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chivo Black" charset="1" panose="020B0A03020202020B04"/>
      <p:regular r:id="rId17"/>
    </p:embeddedFont>
    <p:embeddedFont>
      <p:font typeface="Garet" charset="1" panose="00000000000000000000"/>
      <p:regular r:id="rId18"/>
    </p:embeddedFont>
    <p:embeddedFont>
      <p:font typeface="Garet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jpe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F6F2"/>
        </a:solidFill>
      </p:bgPr>
    </p:bg>
    <p:spTree>
      <p:nvGrpSpPr>
        <p:cNvPr id="1" name=""/>
        <p:cNvGrpSpPr/>
        <p:nvPr/>
      </p:nvGrpSpPr>
      <p:grpSpPr>
        <a:xfrm>
          <a:off x="0" y="0"/>
          <a:ext cx="0" cy="0"/>
          <a:chOff x="0" y="0"/>
          <a:chExt cx="0" cy="0"/>
        </a:xfrm>
      </p:grpSpPr>
      <p:sp>
        <p:nvSpPr>
          <p:cNvPr name="Freeform 2" id="2"/>
          <p:cNvSpPr/>
          <p:nvPr/>
        </p:nvSpPr>
        <p:spPr>
          <a:xfrm flipH="false" flipV="false" rot="0">
            <a:off x="10999037" y="1606530"/>
            <a:ext cx="7288963" cy="7241595"/>
          </a:xfrm>
          <a:custGeom>
            <a:avLst/>
            <a:gdLst/>
            <a:ahLst/>
            <a:cxnLst/>
            <a:rect r="r" b="b" t="t" l="l"/>
            <a:pathLst>
              <a:path h="7241595" w="7288963">
                <a:moveTo>
                  <a:pt x="0" y="0"/>
                </a:moveTo>
                <a:lnTo>
                  <a:pt x="7288963" y="0"/>
                </a:lnTo>
                <a:lnTo>
                  <a:pt x="7288963" y="7241595"/>
                </a:lnTo>
                <a:lnTo>
                  <a:pt x="0" y="7241595"/>
                </a:lnTo>
                <a:lnTo>
                  <a:pt x="0" y="0"/>
                </a:lnTo>
                <a:close/>
              </a:path>
            </a:pathLst>
          </a:custGeom>
          <a:blipFill>
            <a:blip r:embed="rId2"/>
            <a:stretch>
              <a:fillRect l="-54416" t="-11173" r="-19810" b="-5664"/>
            </a:stretch>
          </a:blipFill>
        </p:spPr>
      </p:sp>
      <p:grpSp>
        <p:nvGrpSpPr>
          <p:cNvPr name="Group 3" id="3"/>
          <p:cNvGrpSpPr>
            <a:grpSpLocks noChangeAspect="true"/>
          </p:cNvGrpSpPr>
          <p:nvPr/>
        </p:nvGrpSpPr>
        <p:grpSpPr>
          <a:xfrm rot="0">
            <a:off x="12087778" y="3501037"/>
            <a:ext cx="5111482" cy="4103964"/>
            <a:chOff x="0" y="0"/>
            <a:chExt cx="7467600" cy="5995670"/>
          </a:xfrm>
        </p:grpSpPr>
        <p:sp>
          <p:nvSpPr>
            <p:cNvPr name="Freeform 4" id="4"/>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5" id="5"/>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6" id="6"/>
            <p:cNvSpPr/>
            <p:nvPr/>
          </p:nvSpPr>
          <p:spPr>
            <a:xfrm flipH="false" flipV="false" rot="0">
              <a:off x="2434265" y="5210810"/>
              <a:ext cx="2596530" cy="786130"/>
            </a:xfrm>
            <a:custGeom>
              <a:avLst/>
              <a:gdLst/>
              <a:ahLst/>
              <a:cxnLst/>
              <a:rect r="r" b="b" t="t" l="l"/>
              <a:pathLst>
                <a:path h="786130" w="25965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BBBBBB"/>
            </a:solidFill>
          </p:spPr>
        </p:sp>
        <p:sp>
          <p:nvSpPr>
            <p:cNvPr name="Freeform 7" id="7"/>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3"/>
              <a:stretch>
                <a:fillRect l="-40684" t="0" r="-42851" b="-71901"/>
              </a:stretch>
            </a:blipFill>
          </p:spPr>
        </p:sp>
      </p:grpSp>
      <p:sp>
        <p:nvSpPr>
          <p:cNvPr name="TextBox 8" id="8"/>
          <p:cNvSpPr txBox="true"/>
          <p:nvPr/>
        </p:nvSpPr>
        <p:spPr>
          <a:xfrm rot="0">
            <a:off x="1028700" y="3937526"/>
            <a:ext cx="8115300" cy="1205974"/>
          </a:xfrm>
          <a:prstGeom prst="rect">
            <a:avLst/>
          </a:prstGeom>
        </p:spPr>
        <p:txBody>
          <a:bodyPr anchor="t" rtlCol="false" tIns="0" lIns="0" bIns="0" rIns="0">
            <a:spAutoFit/>
          </a:bodyPr>
          <a:lstStyle/>
          <a:p>
            <a:pPr algn="l">
              <a:lnSpc>
                <a:spcPts val="9085"/>
              </a:lnSpc>
            </a:pPr>
            <a:r>
              <a:rPr lang="en-US" sz="9085">
                <a:solidFill>
                  <a:srgbClr val="2E605D"/>
                </a:solidFill>
                <a:latin typeface="Archivo Black"/>
                <a:ea typeface="Archivo Black"/>
                <a:cs typeface="Archivo Black"/>
                <a:sym typeface="Archivo Black"/>
              </a:rPr>
              <a:t>CAS</a:t>
            </a:r>
          </a:p>
        </p:txBody>
      </p:sp>
      <p:sp>
        <p:nvSpPr>
          <p:cNvPr name="TextBox 9" id="9"/>
          <p:cNvSpPr txBox="true"/>
          <p:nvPr/>
        </p:nvSpPr>
        <p:spPr>
          <a:xfrm rot="0">
            <a:off x="1028700" y="2799363"/>
            <a:ext cx="5982776" cy="701674"/>
          </a:xfrm>
          <a:prstGeom prst="rect">
            <a:avLst/>
          </a:prstGeom>
        </p:spPr>
        <p:txBody>
          <a:bodyPr anchor="t" rtlCol="false" tIns="0" lIns="0" bIns="0" rIns="0">
            <a:spAutoFit/>
          </a:bodyPr>
          <a:lstStyle/>
          <a:p>
            <a:pPr algn="l">
              <a:lnSpc>
                <a:spcPts val="2800"/>
              </a:lnSpc>
            </a:pPr>
            <a:r>
              <a:rPr lang="en-US" sz="2000">
                <a:solidFill>
                  <a:srgbClr val="63B38A"/>
                </a:solidFill>
                <a:latin typeface="Archivo Black"/>
                <a:ea typeface="Archivo Black"/>
                <a:cs typeface="Archivo Black"/>
                <a:sym typeface="Archivo Black"/>
              </a:rPr>
              <a:t>WEB-BASED COURSE ALLOCATION SYSTEM</a:t>
            </a:r>
          </a:p>
        </p:txBody>
      </p:sp>
      <p:sp>
        <p:nvSpPr>
          <p:cNvPr name="TextBox 10" id="10"/>
          <p:cNvSpPr txBox="true"/>
          <p:nvPr/>
        </p:nvSpPr>
        <p:spPr>
          <a:xfrm rot="0">
            <a:off x="14091936" y="622935"/>
            <a:ext cx="3167364" cy="405765"/>
          </a:xfrm>
          <a:prstGeom prst="rect">
            <a:avLst/>
          </a:prstGeom>
        </p:spPr>
        <p:txBody>
          <a:bodyPr anchor="t" rtlCol="false" tIns="0" lIns="0" bIns="0" rIns="0">
            <a:spAutoFit/>
          </a:bodyPr>
          <a:lstStyle/>
          <a:p>
            <a:pPr algn="r">
              <a:lnSpc>
                <a:spcPts val="3359"/>
              </a:lnSpc>
            </a:pPr>
            <a:r>
              <a:rPr lang="en-US" sz="2400">
                <a:solidFill>
                  <a:srgbClr val="63B38A"/>
                </a:solidFill>
                <a:latin typeface="Archivo Black"/>
                <a:ea typeface="Archivo Black"/>
                <a:cs typeface="Archivo Black"/>
                <a:sym typeface="Archivo Black"/>
              </a:rPr>
              <a:t>Junior Project</a:t>
            </a:r>
          </a:p>
        </p:txBody>
      </p:sp>
      <p:sp>
        <p:nvSpPr>
          <p:cNvPr name="TextBox 11" id="11"/>
          <p:cNvSpPr txBox="true"/>
          <p:nvPr/>
        </p:nvSpPr>
        <p:spPr>
          <a:xfrm rot="0">
            <a:off x="1028700" y="6346860"/>
            <a:ext cx="3500957" cy="2501265"/>
          </a:xfrm>
          <a:prstGeom prst="rect">
            <a:avLst/>
          </a:prstGeom>
        </p:spPr>
        <p:txBody>
          <a:bodyPr anchor="t" rtlCol="false" tIns="0" lIns="0" bIns="0" rIns="0">
            <a:spAutoFit/>
          </a:bodyPr>
          <a:lstStyle/>
          <a:p>
            <a:pPr algn="l">
              <a:lnSpc>
                <a:spcPts val="3359"/>
              </a:lnSpc>
            </a:pPr>
            <a:r>
              <a:rPr lang="en-US" sz="2400">
                <a:solidFill>
                  <a:srgbClr val="2E605D"/>
                </a:solidFill>
                <a:latin typeface="Archivo Black"/>
                <a:ea typeface="Archivo Black"/>
                <a:cs typeface="Archivo Black"/>
                <a:sym typeface="Archivo Black"/>
              </a:rPr>
              <a:t>Presented by:</a:t>
            </a:r>
          </a:p>
          <a:p>
            <a:pPr algn="l">
              <a:lnSpc>
                <a:spcPts val="3359"/>
              </a:lnSpc>
            </a:pPr>
          </a:p>
          <a:p>
            <a:pPr algn="l">
              <a:lnSpc>
                <a:spcPts val="3359"/>
              </a:lnSpc>
            </a:pPr>
            <a:r>
              <a:rPr lang="en-US" sz="2400">
                <a:solidFill>
                  <a:srgbClr val="2E605D"/>
                </a:solidFill>
                <a:latin typeface="Archivo Black"/>
                <a:ea typeface="Archivo Black"/>
                <a:cs typeface="Archivo Black"/>
                <a:sym typeface="Archivo Black"/>
              </a:rPr>
              <a:t>Dana Al Safadi</a:t>
            </a:r>
          </a:p>
          <a:p>
            <a:pPr algn="l">
              <a:lnSpc>
                <a:spcPts val="3359"/>
              </a:lnSpc>
            </a:pPr>
            <a:r>
              <a:rPr lang="en-US" sz="2400">
                <a:solidFill>
                  <a:srgbClr val="2E605D"/>
                </a:solidFill>
                <a:latin typeface="Archivo Black"/>
                <a:ea typeface="Archivo Black"/>
                <a:cs typeface="Archivo Black"/>
                <a:sym typeface="Archivo Black"/>
              </a:rPr>
              <a:t>Mahra AlKuhoori</a:t>
            </a:r>
          </a:p>
          <a:p>
            <a:pPr algn="l">
              <a:lnSpc>
                <a:spcPts val="3359"/>
              </a:lnSpc>
            </a:pPr>
            <a:r>
              <a:rPr lang="en-US" sz="2400">
                <a:solidFill>
                  <a:srgbClr val="2E605D"/>
                </a:solidFill>
                <a:latin typeface="Archivo Black"/>
                <a:ea typeface="Archivo Black"/>
                <a:cs typeface="Archivo Black"/>
                <a:sym typeface="Archivo Black"/>
              </a:rPr>
              <a:t>Amna AlShamsi</a:t>
            </a:r>
          </a:p>
          <a:p>
            <a:pPr algn="l">
              <a:lnSpc>
                <a:spcPts val="3359"/>
              </a:lnSpc>
            </a:pPr>
            <a:r>
              <a:rPr lang="en-US" sz="2400">
                <a:solidFill>
                  <a:srgbClr val="2E605D"/>
                </a:solidFill>
                <a:latin typeface="Archivo Black"/>
                <a:ea typeface="Archivo Black"/>
                <a:cs typeface="Archivo Black"/>
                <a:sym typeface="Archivo Black"/>
              </a:rPr>
              <a:t>Asma AlAli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F6F2"/>
        </a:solidFill>
      </p:bgPr>
    </p:bg>
    <p:spTree>
      <p:nvGrpSpPr>
        <p:cNvPr id="1" name=""/>
        <p:cNvGrpSpPr/>
        <p:nvPr/>
      </p:nvGrpSpPr>
      <p:grpSpPr>
        <a:xfrm>
          <a:off x="0" y="0"/>
          <a:ext cx="0" cy="0"/>
          <a:chOff x="0" y="0"/>
          <a:chExt cx="0" cy="0"/>
        </a:xfrm>
      </p:grpSpPr>
      <p:sp>
        <p:nvSpPr>
          <p:cNvPr name="Freeform 2" id="2"/>
          <p:cNvSpPr/>
          <p:nvPr/>
        </p:nvSpPr>
        <p:spPr>
          <a:xfrm flipH="false" flipV="false" rot="0">
            <a:off x="-1504979" y="-2462508"/>
            <a:ext cx="2273981" cy="15187916"/>
          </a:xfrm>
          <a:custGeom>
            <a:avLst/>
            <a:gdLst/>
            <a:ahLst/>
            <a:cxnLst/>
            <a:rect r="r" b="b" t="t" l="l"/>
            <a:pathLst>
              <a:path h="15187916" w="2273981">
                <a:moveTo>
                  <a:pt x="0" y="0"/>
                </a:moveTo>
                <a:lnTo>
                  <a:pt x="2273982" y="0"/>
                </a:lnTo>
                <a:lnTo>
                  <a:pt x="2273982" y="15187916"/>
                </a:lnTo>
                <a:lnTo>
                  <a:pt x="0" y="15187916"/>
                </a:lnTo>
                <a:lnTo>
                  <a:pt x="0" y="0"/>
                </a:lnTo>
                <a:close/>
              </a:path>
            </a:pathLst>
          </a:custGeom>
          <a:blipFill>
            <a:blip r:embed="rId2"/>
            <a:stretch>
              <a:fillRect l="-748735" t="0" r="-153740" b="0"/>
            </a:stretch>
          </a:blipFill>
        </p:spPr>
      </p:sp>
      <p:sp>
        <p:nvSpPr>
          <p:cNvPr name="Freeform 3" id="3"/>
          <p:cNvSpPr/>
          <p:nvPr/>
        </p:nvSpPr>
        <p:spPr>
          <a:xfrm flipH="false" flipV="false" rot="0">
            <a:off x="17888592" y="-3536935"/>
            <a:ext cx="399408" cy="5785443"/>
          </a:xfrm>
          <a:custGeom>
            <a:avLst/>
            <a:gdLst/>
            <a:ahLst/>
            <a:cxnLst/>
            <a:rect r="r" b="b" t="t" l="l"/>
            <a:pathLst>
              <a:path h="5785443" w="399408">
                <a:moveTo>
                  <a:pt x="0" y="0"/>
                </a:moveTo>
                <a:lnTo>
                  <a:pt x="399408" y="0"/>
                </a:lnTo>
                <a:lnTo>
                  <a:pt x="399408" y="5785443"/>
                </a:lnTo>
                <a:lnTo>
                  <a:pt x="0" y="5785443"/>
                </a:lnTo>
                <a:lnTo>
                  <a:pt x="0" y="0"/>
                </a:lnTo>
                <a:close/>
              </a:path>
            </a:pathLst>
          </a:custGeom>
          <a:blipFill>
            <a:blip r:embed="rId2"/>
            <a:stretch>
              <a:fillRect l="-1740691" t="0" r="-333423" b="0"/>
            </a:stretch>
          </a:blipFill>
        </p:spPr>
      </p:sp>
      <p:sp>
        <p:nvSpPr>
          <p:cNvPr name="Freeform 4" id="4"/>
          <p:cNvSpPr/>
          <p:nvPr/>
        </p:nvSpPr>
        <p:spPr>
          <a:xfrm flipH="false" flipV="false" rot="0">
            <a:off x="17888592" y="8509610"/>
            <a:ext cx="399408" cy="5785443"/>
          </a:xfrm>
          <a:custGeom>
            <a:avLst/>
            <a:gdLst/>
            <a:ahLst/>
            <a:cxnLst/>
            <a:rect r="r" b="b" t="t" l="l"/>
            <a:pathLst>
              <a:path h="5785443" w="399408">
                <a:moveTo>
                  <a:pt x="0" y="0"/>
                </a:moveTo>
                <a:lnTo>
                  <a:pt x="399408" y="0"/>
                </a:lnTo>
                <a:lnTo>
                  <a:pt x="399408" y="5785443"/>
                </a:lnTo>
                <a:lnTo>
                  <a:pt x="0" y="5785443"/>
                </a:lnTo>
                <a:lnTo>
                  <a:pt x="0" y="0"/>
                </a:lnTo>
                <a:close/>
              </a:path>
            </a:pathLst>
          </a:custGeom>
          <a:blipFill>
            <a:blip r:embed="rId2"/>
            <a:stretch>
              <a:fillRect l="-1740691" t="0" r="-333423" b="0"/>
            </a:stretch>
          </a:blipFill>
        </p:spPr>
      </p:sp>
      <p:grpSp>
        <p:nvGrpSpPr>
          <p:cNvPr name="Group 5" id="5"/>
          <p:cNvGrpSpPr/>
          <p:nvPr/>
        </p:nvGrpSpPr>
        <p:grpSpPr>
          <a:xfrm rot="0">
            <a:off x="12939545" y="3484452"/>
            <a:ext cx="3964185" cy="396418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1130" r="0" b="-1130"/>
              </a:stretch>
            </a:blipFill>
          </p:spPr>
        </p:sp>
      </p:grpSp>
      <p:sp>
        <p:nvSpPr>
          <p:cNvPr name="TextBox 7" id="7"/>
          <p:cNvSpPr txBox="true"/>
          <p:nvPr/>
        </p:nvSpPr>
        <p:spPr>
          <a:xfrm rot="0">
            <a:off x="14091936" y="9520382"/>
            <a:ext cx="3167364" cy="405765"/>
          </a:xfrm>
          <a:prstGeom prst="rect">
            <a:avLst/>
          </a:prstGeom>
        </p:spPr>
        <p:txBody>
          <a:bodyPr anchor="t" rtlCol="false" tIns="0" lIns="0" bIns="0" rIns="0">
            <a:spAutoFit/>
          </a:bodyPr>
          <a:lstStyle/>
          <a:p>
            <a:pPr algn="r">
              <a:lnSpc>
                <a:spcPts val="3359"/>
              </a:lnSpc>
            </a:pPr>
            <a:r>
              <a:rPr lang="en-US" sz="2400">
                <a:solidFill>
                  <a:srgbClr val="000000"/>
                </a:solidFill>
                <a:latin typeface="Archivo Black"/>
                <a:ea typeface="Archivo Black"/>
                <a:cs typeface="Archivo Black"/>
                <a:sym typeface="Archivo Black"/>
              </a:rPr>
              <a:t>2</a:t>
            </a:r>
          </a:p>
        </p:txBody>
      </p:sp>
      <p:sp>
        <p:nvSpPr>
          <p:cNvPr name="TextBox 8" id="8"/>
          <p:cNvSpPr txBox="true"/>
          <p:nvPr/>
        </p:nvSpPr>
        <p:spPr>
          <a:xfrm rot="0">
            <a:off x="2324495" y="1427453"/>
            <a:ext cx="7951509" cy="821055"/>
          </a:xfrm>
          <a:prstGeom prst="rect">
            <a:avLst/>
          </a:prstGeom>
        </p:spPr>
        <p:txBody>
          <a:bodyPr anchor="t" rtlCol="false" tIns="0" lIns="0" bIns="0" rIns="0">
            <a:spAutoFit/>
          </a:bodyPr>
          <a:lstStyle/>
          <a:p>
            <a:pPr algn="l">
              <a:lnSpc>
                <a:spcPts val="6719"/>
              </a:lnSpc>
            </a:pPr>
            <a:r>
              <a:rPr lang="en-US" sz="4800">
                <a:solidFill>
                  <a:srgbClr val="000000"/>
                </a:solidFill>
                <a:latin typeface="Archivo Black"/>
                <a:ea typeface="Archivo Black"/>
                <a:cs typeface="Archivo Black"/>
                <a:sym typeface="Archivo Black"/>
              </a:rPr>
              <a:t>INTRODUCTION</a:t>
            </a:r>
          </a:p>
        </p:txBody>
      </p:sp>
      <p:sp>
        <p:nvSpPr>
          <p:cNvPr name="TextBox 9" id="9"/>
          <p:cNvSpPr txBox="true"/>
          <p:nvPr/>
        </p:nvSpPr>
        <p:spPr>
          <a:xfrm rot="0">
            <a:off x="1028700" y="3779597"/>
            <a:ext cx="9858069" cy="3288171"/>
          </a:xfrm>
          <a:prstGeom prst="rect">
            <a:avLst/>
          </a:prstGeom>
        </p:spPr>
        <p:txBody>
          <a:bodyPr anchor="t" rtlCol="false" tIns="0" lIns="0" bIns="0" rIns="0">
            <a:spAutoFit/>
          </a:bodyPr>
          <a:lstStyle/>
          <a:p>
            <a:pPr algn="just" marL="636108" indent="-318054" lvl="1">
              <a:lnSpc>
                <a:spcPts val="4419"/>
              </a:lnSpc>
              <a:buFont typeface="Arial"/>
              <a:buChar char="•"/>
            </a:pPr>
            <a:r>
              <a:rPr lang="en-US" sz="2946">
                <a:solidFill>
                  <a:srgbClr val="125B50"/>
                </a:solidFill>
                <a:latin typeface="Garet"/>
                <a:ea typeface="Garet"/>
                <a:cs typeface="Garet"/>
                <a:sym typeface="Garet"/>
              </a:rPr>
              <a:t>Course allocation is an essential process in every department.</a:t>
            </a:r>
          </a:p>
          <a:p>
            <a:pPr algn="just">
              <a:lnSpc>
                <a:spcPts val="4419"/>
              </a:lnSpc>
            </a:pPr>
          </a:p>
          <a:p>
            <a:pPr algn="just" marL="636108" indent="-318054" lvl="1">
              <a:lnSpc>
                <a:spcPts val="4419"/>
              </a:lnSpc>
              <a:buFont typeface="Arial"/>
              <a:buChar char="•"/>
            </a:pPr>
            <a:r>
              <a:rPr lang="en-US" sz="2946">
                <a:solidFill>
                  <a:srgbClr val="125B50"/>
                </a:solidFill>
                <a:latin typeface="Garet"/>
                <a:ea typeface="Garet"/>
                <a:cs typeface="Garet"/>
                <a:sym typeface="Garet"/>
              </a:rPr>
              <a:t> Our CAS system aims to make it simpler, more organized, and more efficient through automation and smart design.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F6F2"/>
        </a:solidFill>
      </p:bgPr>
    </p:bg>
    <p:spTree>
      <p:nvGrpSpPr>
        <p:cNvPr id="1" name=""/>
        <p:cNvGrpSpPr/>
        <p:nvPr/>
      </p:nvGrpSpPr>
      <p:grpSpPr>
        <a:xfrm>
          <a:off x="0" y="0"/>
          <a:ext cx="0" cy="0"/>
          <a:chOff x="0" y="0"/>
          <a:chExt cx="0" cy="0"/>
        </a:xfrm>
      </p:grpSpPr>
      <p:sp>
        <p:nvSpPr>
          <p:cNvPr name="Freeform 2" id="2"/>
          <p:cNvSpPr/>
          <p:nvPr/>
        </p:nvSpPr>
        <p:spPr>
          <a:xfrm flipH="false" flipV="false" rot="0">
            <a:off x="0" y="1522703"/>
            <a:ext cx="2273981" cy="7241595"/>
          </a:xfrm>
          <a:custGeom>
            <a:avLst/>
            <a:gdLst/>
            <a:ahLst/>
            <a:cxnLst/>
            <a:rect r="r" b="b" t="t" l="l"/>
            <a:pathLst>
              <a:path h="7241595" w="2273981">
                <a:moveTo>
                  <a:pt x="0" y="0"/>
                </a:moveTo>
                <a:lnTo>
                  <a:pt x="2273981" y="0"/>
                </a:lnTo>
                <a:lnTo>
                  <a:pt x="2273981" y="7241594"/>
                </a:lnTo>
                <a:lnTo>
                  <a:pt x="0" y="7241594"/>
                </a:lnTo>
                <a:lnTo>
                  <a:pt x="0" y="0"/>
                </a:lnTo>
                <a:close/>
              </a:path>
            </a:pathLst>
          </a:custGeom>
          <a:blipFill>
            <a:blip r:embed="rId2"/>
            <a:stretch>
              <a:fillRect l="-394961" t="-11173" r="-63500" b="-5664"/>
            </a:stretch>
          </a:blipFill>
        </p:spPr>
      </p:sp>
      <p:sp>
        <p:nvSpPr>
          <p:cNvPr name="Freeform 3" id="3"/>
          <p:cNvSpPr/>
          <p:nvPr/>
        </p:nvSpPr>
        <p:spPr>
          <a:xfrm flipH="false" flipV="false" rot="0">
            <a:off x="162087" y="2521938"/>
            <a:ext cx="1886196" cy="1886196"/>
          </a:xfrm>
          <a:custGeom>
            <a:avLst/>
            <a:gdLst/>
            <a:ahLst/>
            <a:cxnLst/>
            <a:rect r="r" b="b" t="t" l="l"/>
            <a:pathLst>
              <a:path h="1886196" w="1886196">
                <a:moveTo>
                  <a:pt x="0" y="0"/>
                </a:moveTo>
                <a:lnTo>
                  <a:pt x="1886196" y="0"/>
                </a:lnTo>
                <a:lnTo>
                  <a:pt x="1886196" y="1886196"/>
                </a:lnTo>
                <a:lnTo>
                  <a:pt x="0" y="1886196"/>
                </a:lnTo>
                <a:lnTo>
                  <a:pt x="0" y="0"/>
                </a:lnTo>
                <a:close/>
              </a:path>
            </a:pathLst>
          </a:custGeom>
          <a:blipFill>
            <a:blip r:embed="rId3"/>
            <a:stretch>
              <a:fillRect l="0" t="0" r="0" b="0"/>
            </a:stretch>
          </a:blipFill>
        </p:spPr>
      </p:sp>
      <p:sp>
        <p:nvSpPr>
          <p:cNvPr name="Freeform 4" id="4"/>
          <p:cNvSpPr/>
          <p:nvPr/>
        </p:nvSpPr>
        <p:spPr>
          <a:xfrm flipH="false" flipV="false" rot="0">
            <a:off x="225698" y="5143500"/>
            <a:ext cx="1822585" cy="1822585"/>
          </a:xfrm>
          <a:custGeom>
            <a:avLst/>
            <a:gdLst/>
            <a:ahLst/>
            <a:cxnLst/>
            <a:rect r="r" b="b" t="t" l="l"/>
            <a:pathLst>
              <a:path h="1822585" w="1822585">
                <a:moveTo>
                  <a:pt x="0" y="0"/>
                </a:moveTo>
                <a:lnTo>
                  <a:pt x="1822585" y="0"/>
                </a:lnTo>
                <a:lnTo>
                  <a:pt x="1822585" y="1822585"/>
                </a:lnTo>
                <a:lnTo>
                  <a:pt x="0" y="1822585"/>
                </a:lnTo>
                <a:lnTo>
                  <a:pt x="0" y="0"/>
                </a:lnTo>
                <a:close/>
              </a:path>
            </a:pathLst>
          </a:custGeom>
          <a:blipFill>
            <a:blip r:embed="rId4"/>
            <a:stretch>
              <a:fillRect l="0" t="0" r="0" b="0"/>
            </a:stretch>
          </a:blipFill>
        </p:spPr>
      </p:sp>
      <p:sp>
        <p:nvSpPr>
          <p:cNvPr name="TextBox 5" id="5"/>
          <p:cNvSpPr txBox="true"/>
          <p:nvPr/>
        </p:nvSpPr>
        <p:spPr>
          <a:xfrm rot="0">
            <a:off x="4401365" y="3274695"/>
            <a:ext cx="12857935" cy="4393071"/>
          </a:xfrm>
          <a:prstGeom prst="rect">
            <a:avLst/>
          </a:prstGeom>
        </p:spPr>
        <p:txBody>
          <a:bodyPr anchor="t" rtlCol="false" tIns="0" lIns="0" bIns="0" rIns="0">
            <a:spAutoFit/>
          </a:bodyPr>
          <a:lstStyle/>
          <a:p>
            <a:pPr algn="just" marL="636108" indent="-318054" lvl="1">
              <a:lnSpc>
                <a:spcPts val="4419"/>
              </a:lnSpc>
              <a:buFont typeface="Arial"/>
              <a:buChar char="•"/>
            </a:pPr>
            <a:r>
              <a:rPr lang="en-US" sz="2946">
                <a:solidFill>
                  <a:srgbClr val="125B50"/>
                </a:solidFill>
                <a:latin typeface="Garet"/>
                <a:ea typeface="Garet"/>
                <a:cs typeface="Garet"/>
                <a:sym typeface="Garet"/>
              </a:rPr>
              <a:t>Course allocation is still manual → time-consuming, error-prone, and not transparent.</a:t>
            </a:r>
          </a:p>
          <a:p>
            <a:pPr algn="just">
              <a:lnSpc>
                <a:spcPts val="4419"/>
              </a:lnSpc>
            </a:pPr>
          </a:p>
          <a:p>
            <a:pPr algn="just" marL="636108" indent="-318054" lvl="1">
              <a:lnSpc>
                <a:spcPts val="4419"/>
              </a:lnSpc>
              <a:buFont typeface="Arial"/>
              <a:buChar char="•"/>
            </a:pPr>
            <a:r>
              <a:rPr lang="en-US" sz="2946">
                <a:solidFill>
                  <a:srgbClr val="125B50"/>
                </a:solidFill>
                <a:latin typeface="Garet"/>
                <a:ea typeface="Garet"/>
                <a:cs typeface="Garet"/>
                <a:sym typeface="Garet"/>
              </a:rPr>
              <a:t>HoDs struggle to match faculty expertise with courses.</a:t>
            </a:r>
          </a:p>
          <a:p>
            <a:pPr algn="just">
              <a:lnSpc>
                <a:spcPts val="4419"/>
              </a:lnSpc>
            </a:pPr>
          </a:p>
          <a:p>
            <a:pPr algn="just" marL="636108" indent="-318054" lvl="1">
              <a:lnSpc>
                <a:spcPts val="4419"/>
              </a:lnSpc>
              <a:buFont typeface="Arial"/>
              <a:buChar char="•"/>
            </a:pPr>
            <a:r>
              <a:rPr lang="en-US" sz="2946">
                <a:solidFill>
                  <a:srgbClr val="125B50"/>
                </a:solidFill>
                <a:latin typeface="Garet"/>
                <a:ea typeface="Garet"/>
                <a:cs typeface="Garet"/>
                <a:sym typeface="Garet"/>
              </a:rPr>
              <a:t>Faculty preferences and qualifications are overlooked.</a:t>
            </a:r>
          </a:p>
          <a:p>
            <a:pPr algn="just">
              <a:lnSpc>
                <a:spcPts val="4419"/>
              </a:lnSpc>
            </a:pPr>
          </a:p>
          <a:p>
            <a:pPr algn="just" marL="636108" indent="-318054" lvl="1">
              <a:lnSpc>
                <a:spcPts val="4419"/>
              </a:lnSpc>
              <a:buFont typeface="Arial"/>
              <a:buChar char="•"/>
            </a:pPr>
            <a:r>
              <a:rPr lang="en-US" sz="2946">
                <a:solidFill>
                  <a:srgbClr val="125B50"/>
                </a:solidFill>
                <a:latin typeface="Garet"/>
                <a:ea typeface="Garet"/>
                <a:cs typeface="Garet"/>
                <a:sym typeface="Garet"/>
              </a:rPr>
              <a:t>Need for a centralized, automated, and fair system.</a:t>
            </a:r>
          </a:p>
        </p:txBody>
      </p:sp>
      <p:sp>
        <p:nvSpPr>
          <p:cNvPr name="TextBox 6" id="6"/>
          <p:cNvSpPr txBox="true"/>
          <p:nvPr/>
        </p:nvSpPr>
        <p:spPr>
          <a:xfrm rot="0">
            <a:off x="14091936" y="9520382"/>
            <a:ext cx="3167364" cy="405765"/>
          </a:xfrm>
          <a:prstGeom prst="rect">
            <a:avLst/>
          </a:prstGeom>
        </p:spPr>
        <p:txBody>
          <a:bodyPr anchor="t" rtlCol="false" tIns="0" lIns="0" bIns="0" rIns="0">
            <a:spAutoFit/>
          </a:bodyPr>
          <a:lstStyle/>
          <a:p>
            <a:pPr algn="r">
              <a:lnSpc>
                <a:spcPts val="3359"/>
              </a:lnSpc>
            </a:pPr>
            <a:r>
              <a:rPr lang="en-US" sz="2400">
                <a:solidFill>
                  <a:srgbClr val="000000"/>
                </a:solidFill>
                <a:latin typeface="Archivo Black"/>
                <a:ea typeface="Archivo Black"/>
                <a:cs typeface="Archivo Black"/>
                <a:sym typeface="Archivo Black"/>
              </a:rPr>
              <a:t>3</a:t>
            </a:r>
          </a:p>
        </p:txBody>
      </p:sp>
      <p:sp>
        <p:nvSpPr>
          <p:cNvPr name="TextBox 7" id="7"/>
          <p:cNvSpPr txBox="true"/>
          <p:nvPr/>
        </p:nvSpPr>
        <p:spPr>
          <a:xfrm rot="0">
            <a:off x="4401365" y="1427453"/>
            <a:ext cx="7951509" cy="821055"/>
          </a:xfrm>
          <a:prstGeom prst="rect">
            <a:avLst/>
          </a:prstGeom>
        </p:spPr>
        <p:txBody>
          <a:bodyPr anchor="t" rtlCol="false" tIns="0" lIns="0" bIns="0" rIns="0">
            <a:spAutoFit/>
          </a:bodyPr>
          <a:lstStyle/>
          <a:p>
            <a:pPr algn="l">
              <a:lnSpc>
                <a:spcPts val="6719"/>
              </a:lnSpc>
            </a:pPr>
            <a:r>
              <a:rPr lang="en-US" sz="4800">
                <a:solidFill>
                  <a:srgbClr val="000000"/>
                </a:solidFill>
                <a:latin typeface="Archivo Black"/>
                <a:ea typeface="Archivo Black"/>
                <a:cs typeface="Archivo Black"/>
                <a:sym typeface="Archivo Black"/>
              </a:rPr>
              <a:t>PROBLEM STATEMENT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F6F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819213" y="2953043"/>
            <a:ext cx="4171211" cy="4171194"/>
            <a:chOff x="0" y="0"/>
            <a:chExt cx="6350000" cy="6349975"/>
          </a:xfrm>
        </p:grpSpPr>
        <p:sp>
          <p:nvSpPr>
            <p:cNvPr name="Freeform 3" id="3"/>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9436" t="-3753" r="-10087" b="-12012"/>
              </a:stretch>
            </a:blipFill>
          </p:spPr>
        </p:sp>
      </p:grpSp>
      <p:grpSp>
        <p:nvGrpSpPr>
          <p:cNvPr name="Group 4" id="4"/>
          <p:cNvGrpSpPr>
            <a:grpSpLocks noChangeAspect="true"/>
          </p:cNvGrpSpPr>
          <p:nvPr/>
        </p:nvGrpSpPr>
        <p:grpSpPr>
          <a:xfrm rot="0">
            <a:off x="6750541" y="3060603"/>
            <a:ext cx="4171211" cy="4171194"/>
            <a:chOff x="0" y="0"/>
            <a:chExt cx="6350000" cy="6349975"/>
          </a:xfrm>
        </p:grpSpPr>
        <p:sp>
          <p:nvSpPr>
            <p:cNvPr name="Freeform 5" id="5"/>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26364" t="0" r="-22926" b="0"/>
              </a:stretch>
            </a:blipFill>
          </p:spPr>
        </p:sp>
      </p:grpSp>
      <p:grpSp>
        <p:nvGrpSpPr>
          <p:cNvPr name="Group 6" id="6"/>
          <p:cNvGrpSpPr>
            <a:grpSpLocks noChangeAspect="true"/>
          </p:cNvGrpSpPr>
          <p:nvPr/>
        </p:nvGrpSpPr>
        <p:grpSpPr>
          <a:xfrm rot="0">
            <a:off x="12681869" y="3057903"/>
            <a:ext cx="4171211" cy="4171194"/>
            <a:chOff x="0" y="0"/>
            <a:chExt cx="6350000" cy="6349975"/>
          </a:xfrm>
        </p:grpSpPr>
        <p:sp>
          <p:nvSpPr>
            <p:cNvPr name="Freeform 7" id="7"/>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38511" t="0" r="-57415" b="0"/>
              </a:stretch>
            </a:blipFill>
          </p:spPr>
        </p:sp>
      </p:grpSp>
      <p:sp>
        <p:nvSpPr>
          <p:cNvPr name="TextBox 8" id="8"/>
          <p:cNvSpPr txBox="true"/>
          <p:nvPr/>
        </p:nvSpPr>
        <p:spPr>
          <a:xfrm rot="0">
            <a:off x="819213" y="8023860"/>
            <a:ext cx="4171211" cy="1234440"/>
          </a:xfrm>
          <a:prstGeom prst="rect">
            <a:avLst/>
          </a:prstGeom>
        </p:spPr>
        <p:txBody>
          <a:bodyPr anchor="t" rtlCol="false" tIns="0" lIns="0" bIns="0" rIns="0">
            <a:spAutoFit/>
          </a:bodyPr>
          <a:lstStyle/>
          <a:p>
            <a:pPr algn="ctr">
              <a:lnSpc>
                <a:spcPts val="3359"/>
              </a:lnSpc>
            </a:pPr>
            <a:r>
              <a:rPr lang="en-US" b="true" sz="2400">
                <a:solidFill>
                  <a:srgbClr val="125B50"/>
                </a:solidFill>
                <a:latin typeface="Garet Bold"/>
                <a:ea typeface="Garet Bold"/>
                <a:cs typeface="Garet Bold"/>
                <a:sym typeface="Garet Bold"/>
              </a:rPr>
              <a:t>Automate course allocation using a web-based system</a:t>
            </a:r>
          </a:p>
        </p:txBody>
      </p:sp>
      <p:sp>
        <p:nvSpPr>
          <p:cNvPr name="TextBox 9" id="9"/>
          <p:cNvSpPr txBox="true"/>
          <p:nvPr/>
        </p:nvSpPr>
        <p:spPr>
          <a:xfrm rot="0">
            <a:off x="6967799" y="8023860"/>
            <a:ext cx="3953953" cy="1234440"/>
          </a:xfrm>
          <a:prstGeom prst="rect">
            <a:avLst/>
          </a:prstGeom>
        </p:spPr>
        <p:txBody>
          <a:bodyPr anchor="t" rtlCol="false" tIns="0" lIns="0" bIns="0" rIns="0">
            <a:spAutoFit/>
          </a:bodyPr>
          <a:lstStyle/>
          <a:p>
            <a:pPr algn="ctr">
              <a:lnSpc>
                <a:spcPts val="3359"/>
              </a:lnSpc>
            </a:pPr>
            <a:r>
              <a:rPr lang="en-US" b="true" sz="2400">
                <a:solidFill>
                  <a:srgbClr val="125B50"/>
                </a:solidFill>
                <a:latin typeface="Garet Bold"/>
                <a:ea typeface="Garet Bold"/>
                <a:cs typeface="Garet Bold"/>
                <a:sym typeface="Garet Bold"/>
              </a:rPr>
              <a:t>Allow faculty to upload CVs + Submit preferences</a:t>
            </a:r>
          </a:p>
        </p:txBody>
      </p:sp>
      <p:sp>
        <p:nvSpPr>
          <p:cNvPr name="TextBox 10" id="10"/>
          <p:cNvSpPr txBox="true"/>
          <p:nvPr/>
        </p:nvSpPr>
        <p:spPr>
          <a:xfrm rot="0">
            <a:off x="12505511" y="8023860"/>
            <a:ext cx="4523927" cy="1234440"/>
          </a:xfrm>
          <a:prstGeom prst="rect">
            <a:avLst/>
          </a:prstGeom>
        </p:spPr>
        <p:txBody>
          <a:bodyPr anchor="t" rtlCol="false" tIns="0" lIns="0" bIns="0" rIns="0">
            <a:spAutoFit/>
          </a:bodyPr>
          <a:lstStyle/>
          <a:p>
            <a:pPr algn="ctr">
              <a:lnSpc>
                <a:spcPts val="3359"/>
              </a:lnSpc>
            </a:pPr>
            <a:r>
              <a:rPr lang="en-US" b="true" sz="2400">
                <a:solidFill>
                  <a:srgbClr val="125B50"/>
                </a:solidFill>
                <a:latin typeface="Garet Bold"/>
                <a:ea typeface="Garet Bold"/>
                <a:cs typeface="Garet Bold"/>
                <a:sym typeface="Garet Bold"/>
              </a:rPr>
              <a:t>Provide AI-generated course recommendations to HoDs</a:t>
            </a:r>
          </a:p>
        </p:txBody>
      </p:sp>
      <p:sp>
        <p:nvSpPr>
          <p:cNvPr name="TextBox 11" id="11"/>
          <p:cNvSpPr txBox="true"/>
          <p:nvPr/>
        </p:nvSpPr>
        <p:spPr>
          <a:xfrm rot="0">
            <a:off x="14091936" y="9520382"/>
            <a:ext cx="3167364" cy="405765"/>
          </a:xfrm>
          <a:prstGeom prst="rect">
            <a:avLst/>
          </a:prstGeom>
        </p:spPr>
        <p:txBody>
          <a:bodyPr anchor="t" rtlCol="false" tIns="0" lIns="0" bIns="0" rIns="0">
            <a:spAutoFit/>
          </a:bodyPr>
          <a:lstStyle/>
          <a:p>
            <a:pPr algn="r">
              <a:lnSpc>
                <a:spcPts val="3359"/>
              </a:lnSpc>
            </a:pPr>
            <a:r>
              <a:rPr lang="en-US" sz="2400">
                <a:solidFill>
                  <a:srgbClr val="000000"/>
                </a:solidFill>
                <a:latin typeface="Archivo Black"/>
                <a:ea typeface="Archivo Black"/>
                <a:cs typeface="Archivo Black"/>
                <a:sym typeface="Archivo Black"/>
              </a:rPr>
              <a:t>4</a:t>
            </a:r>
          </a:p>
        </p:txBody>
      </p:sp>
      <p:sp>
        <p:nvSpPr>
          <p:cNvPr name="TextBox 12" id="12"/>
          <p:cNvSpPr txBox="true"/>
          <p:nvPr/>
        </p:nvSpPr>
        <p:spPr>
          <a:xfrm rot="0">
            <a:off x="5606131" y="1169629"/>
            <a:ext cx="7075737" cy="821055"/>
          </a:xfrm>
          <a:prstGeom prst="rect">
            <a:avLst/>
          </a:prstGeom>
        </p:spPr>
        <p:txBody>
          <a:bodyPr anchor="t" rtlCol="false" tIns="0" lIns="0" bIns="0" rIns="0">
            <a:spAutoFit/>
          </a:bodyPr>
          <a:lstStyle/>
          <a:p>
            <a:pPr algn="r">
              <a:lnSpc>
                <a:spcPts val="6719"/>
              </a:lnSpc>
            </a:pPr>
            <a:r>
              <a:rPr lang="en-US" sz="4800">
                <a:solidFill>
                  <a:srgbClr val="000000"/>
                </a:solidFill>
                <a:latin typeface="Archivo Black"/>
                <a:ea typeface="Archivo Black"/>
                <a:cs typeface="Archivo Black"/>
                <a:sym typeface="Archivo Black"/>
              </a:rPr>
              <a:t>AIMS &amp; OBJECTIVES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F6F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3120284"/>
          </a:xfrm>
          <a:custGeom>
            <a:avLst/>
            <a:gdLst/>
            <a:ahLst/>
            <a:cxnLst/>
            <a:rect r="r" b="b" t="t" l="l"/>
            <a:pathLst>
              <a:path h="3120284" w="18288000">
                <a:moveTo>
                  <a:pt x="0" y="0"/>
                </a:moveTo>
                <a:lnTo>
                  <a:pt x="18288000" y="0"/>
                </a:lnTo>
                <a:lnTo>
                  <a:pt x="18288000" y="3120284"/>
                </a:lnTo>
                <a:lnTo>
                  <a:pt x="0" y="3120284"/>
                </a:lnTo>
                <a:lnTo>
                  <a:pt x="0" y="0"/>
                </a:lnTo>
                <a:close/>
              </a:path>
            </a:pathLst>
          </a:custGeom>
          <a:blipFill>
            <a:blip r:embed="rId2"/>
            <a:stretch>
              <a:fillRect l="0" t="-65125" r="0" b="-225364"/>
            </a:stretch>
          </a:blipFill>
        </p:spPr>
      </p:sp>
      <p:sp>
        <p:nvSpPr>
          <p:cNvPr name="Freeform 3" id="3"/>
          <p:cNvSpPr/>
          <p:nvPr/>
        </p:nvSpPr>
        <p:spPr>
          <a:xfrm flipH="false" flipV="false" rot="0">
            <a:off x="9502302" y="4744444"/>
            <a:ext cx="8785698" cy="3711957"/>
          </a:xfrm>
          <a:custGeom>
            <a:avLst/>
            <a:gdLst/>
            <a:ahLst/>
            <a:cxnLst/>
            <a:rect r="r" b="b" t="t" l="l"/>
            <a:pathLst>
              <a:path h="3711957" w="8785698">
                <a:moveTo>
                  <a:pt x="0" y="0"/>
                </a:moveTo>
                <a:lnTo>
                  <a:pt x="8785698" y="0"/>
                </a:lnTo>
                <a:lnTo>
                  <a:pt x="8785698" y="3711957"/>
                </a:lnTo>
                <a:lnTo>
                  <a:pt x="0" y="3711957"/>
                </a:lnTo>
                <a:lnTo>
                  <a:pt x="0" y="0"/>
                </a:lnTo>
                <a:close/>
              </a:path>
            </a:pathLst>
          </a:custGeom>
          <a:blipFill>
            <a:blip r:embed="rId3"/>
            <a:stretch>
              <a:fillRect l="0" t="0" r="0" b="0"/>
            </a:stretch>
          </a:blipFill>
        </p:spPr>
      </p:sp>
      <p:sp>
        <p:nvSpPr>
          <p:cNvPr name="TextBox 4" id="4"/>
          <p:cNvSpPr txBox="true"/>
          <p:nvPr/>
        </p:nvSpPr>
        <p:spPr>
          <a:xfrm rot="0">
            <a:off x="14091936" y="9520382"/>
            <a:ext cx="3167364" cy="405765"/>
          </a:xfrm>
          <a:prstGeom prst="rect">
            <a:avLst/>
          </a:prstGeom>
        </p:spPr>
        <p:txBody>
          <a:bodyPr anchor="t" rtlCol="false" tIns="0" lIns="0" bIns="0" rIns="0">
            <a:spAutoFit/>
          </a:bodyPr>
          <a:lstStyle/>
          <a:p>
            <a:pPr algn="r">
              <a:lnSpc>
                <a:spcPts val="3359"/>
              </a:lnSpc>
            </a:pPr>
            <a:r>
              <a:rPr lang="en-US" sz="2400">
                <a:solidFill>
                  <a:srgbClr val="000000"/>
                </a:solidFill>
                <a:latin typeface="Archivo Black"/>
                <a:ea typeface="Archivo Black"/>
                <a:cs typeface="Archivo Black"/>
                <a:sym typeface="Archivo Black"/>
              </a:rPr>
              <a:t>5</a:t>
            </a:r>
          </a:p>
        </p:txBody>
      </p:sp>
      <p:sp>
        <p:nvSpPr>
          <p:cNvPr name="TextBox 5" id="5"/>
          <p:cNvSpPr txBox="true"/>
          <p:nvPr/>
        </p:nvSpPr>
        <p:spPr>
          <a:xfrm rot="0">
            <a:off x="496354" y="3356763"/>
            <a:ext cx="8647646" cy="821055"/>
          </a:xfrm>
          <a:prstGeom prst="rect">
            <a:avLst/>
          </a:prstGeom>
        </p:spPr>
        <p:txBody>
          <a:bodyPr anchor="t" rtlCol="false" tIns="0" lIns="0" bIns="0" rIns="0">
            <a:spAutoFit/>
          </a:bodyPr>
          <a:lstStyle/>
          <a:p>
            <a:pPr algn="l">
              <a:lnSpc>
                <a:spcPts val="6719"/>
              </a:lnSpc>
            </a:pPr>
            <a:r>
              <a:rPr lang="en-US" sz="4800">
                <a:solidFill>
                  <a:srgbClr val="000000"/>
                </a:solidFill>
                <a:latin typeface="Archivo Black"/>
                <a:ea typeface="Archivo Black"/>
                <a:cs typeface="Archivo Black"/>
                <a:sym typeface="Archivo Black"/>
              </a:rPr>
              <a:t>SYSTEM ARCHITECTURE</a:t>
            </a:r>
          </a:p>
        </p:txBody>
      </p:sp>
      <p:sp>
        <p:nvSpPr>
          <p:cNvPr name="TextBox 6" id="6"/>
          <p:cNvSpPr txBox="true"/>
          <p:nvPr/>
        </p:nvSpPr>
        <p:spPr>
          <a:xfrm rot="0">
            <a:off x="496354" y="5067300"/>
            <a:ext cx="8647646" cy="3389101"/>
          </a:xfrm>
          <a:prstGeom prst="rect">
            <a:avLst/>
          </a:prstGeom>
        </p:spPr>
        <p:txBody>
          <a:bodyPr anchor="t" rtlCol="false" tIns="0" lIns="0" bIns="0" rIns="0">
            <a:spAutoFit/>
          </a:bodyPr>
          <a:lstStyle/>
          <a:p>
            <a:pPr algn="just" marL="552150" indent="-276075" lvl="1">
              <a:lnSpc>
                <a:spcPts val="3836"/>
              </a:lnSpc>
              <a:buFont typeface="Arial"/>
              <a:buChar char="•"/>
            </a:pPr>
            <a:r>
              <a:rPr lang="en-US" b="true" sz="2557">
                <a:solidFill>
                  <a:srgbClr val="125B50"/>
                </a:solidFill>
                <a:latin typeface="Garet Bold"/>
                <a:ea typeface="Garet Bold"/>
                <a:cs typeface="Garet Bold"/>
                <a:sym typeface="Garet Bold"/>
              </a:rPr>
              <a:t>Three-tier system</a:t>
            </a:r>
          </a:p>
          <a:p>
            <a:pPr algn="just">
              <a:lnSpc>
                <a:spcPts val="3836"/>
              </a:lnSpc>
            </a:pPr>
            <a:r>
              <a:rPr lang="en-US" sz="2557" b="true">
                <a:solidFill>
                  <a:srgbClr val="125B50"/>
                </a:solidFill>
                <a:latin typeface="Garet Bold"/>
                <a:ea typeface="Garet Bold"/>
                <a:cs typeface="Garet Bold"/>
                <a:sym typeface="Garet Bold"/>
              </a:rPr>
              <a:t>     Client-side → Application Server → Data Source</a:t>
            </a:r>
          </a:p>
          <a:p>
            <a:pPr algn="just">
              <a:lnSpc>
                <a:spcPts val="3836"/>
              </a:lnSpc>
            </a:pPr>
          </a:p>
          <a:p>
            <a:pPr algn="just" marL="552150" indent="-276075" lvl="1">
              <a:lnSpc>
                <a:spcPts val="3836"/>
              </a:lnSpc>
              <a:buFont typeface="Arial"/>
              <a:buChar char="•"/>
            </a:pPr>
            <a:r>
              <a:rPr lang="en-US" b="true" sz="2557">
                <a:solidFill>
                  <a:srgbClr val="125B50"/>
                </a:solidFill>
                <a:latin typeface="Garet Bold"/>
                <a:ea typeface="Garet Bold"/>
                <a:cs typeface="Garet Bold"/>
                <a:sym typeface="Garet Bold"/>
              </a:rPr>
              <a:t>Designed for scalability, data integrity, and secure access</a:t>
            </a:r>
          </a:p>
          <a:p>
            <a:pPr algn="just">
              <a:lnSpc>
                <a:spcPts val="3836"/>
              </a:lnSpc>
            </a:pPr>
          </a:p>
          <a:p>
            <a:pPr algn="just" marL="552150" indent="-276075" lvl="1">
              <a:lnSpc>
                <a:spcPts val="3836"/>
              </a:lnSpc>
              <a:buFont typeface="Arial"/>
              <a:buChar char="•"/>
            </a:pPr>
            <a:r>
              <a:rPr lang="en-US" b="true" sz="2557">
                <a:solidFill>
                  <a:srgbClr val="125B50"/>
                </a:solidFill>
                <a:latin typeface="Garet Bold"/>
                <a:ea typeface="Garet Bold"/>
                <a:cs typeface="Garet Bold"/>
                <a:sym typeface="Garet Bold"/>
              </a:rPr>
              <a:t>Includes diagrams for structure + behavior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F6F2"/>
        </a:solidFill>
      </p:bgPr>
    </p:bg>
    <p:spTree>
      <p:nvGrpSpPr>
        <p:cNvPr id="1" name=""/>
        <p:cNvGrpSpPr/>
        <p:nvPr/>
      </p:nvGrpSpPr>
      <p:grpSpPr>
        <a:xfrm>
          <a:off x="0" y="0"/>
          <a:ext cx="0" cy="0"/>
          <a:chOff x="0" y="0"/>
          <a:chExt cx="0" cy="0"/>
        </a:xfrm>
      </p:grpSpPr>
      <p:sp>
        <p:nvSpPr>
          <p:cNvPr name="Freeform 2" id="2"/>
          <p:cNvSpPr/>
          <p:nvPr/>
        </p:nvSpPr>
        <p:spPr>
          <a:xfrm flipH="true" flipV="false" rot="0">
            <a:off x="16014019" y="0"/>
            <a:ext cx="2273981" cy="8964806"/>
          </a:xfrm>
          <a:custGeom>
            <a:avLst/>
            <a:gdLst/>
            <a:ahLst/>
            <a:cxnLst/>
            <a:rect r="r" b="b" t="t" l="l"/>
            <a:pathLst>
              <a:path h="8964806" w="2273981">
                <a:moveTo>
                  <a:pt x="2273981" y="0"/>
                </a:moveTo>
                <a:lnTo>
                  <a:pt x="0" y="0"/>
                </a:lnTo>
                <a:lnTo>
                  <a:pt x="0" y="8964806"/>
                </a:lnTo>
                <a:lnTo>
                  <a:pt x="2273981" y="8964806"/>
                </a:lnTo>
                <a:lnTo>
                  <a:pt x="2273981" y="0"/>
                </a:lnTo>
                <a:close/>
              </a:path>
            </a:pathLst>
          </a:custGeom>
          <a:blipFill>
            <a:blip r:embed="rId2"/>
            <a:stretch>
              <a:fillRect l="-471243" t="0" r="-82958" b="-10559"/>
            </a:stretch>
          </a:blipFill>
        </p:spPr>
      </p:sp>
      <p:sp>
        <p:nvSpPr>
          <p:cNvPr name="Freeform 3" id="3"/>
          <p:cNvSpPr/>
          <p:nvPr/>
        </p:nvSpPr>
        <p:spPr>
          <a:xfrm flipH="false" flipV="false" rot="0">
            <a:off x="5273743" y="3048089"/>
            <a:ext cx="10740275" cy="5916717"/>
          </a:xfrm>
          <a:custGeom>
            <a:avLst/>
            <a:gdLst/>
            <a:ahLst/>
            <a:cxnLst/>
            <a:rect r="r" b="b" t="t" l="l"/>
            <a:pathLst>
              <a:path h="5916717" w="10740275">
                <a:moveTo>
                  <a:pt x="0" y="0"/>
                </a:moveTo>
                <a:lnTo>
                  <a:pt x="10740276" y="0"/>
                </a:lnTo>
                <a:lnTo>
                  <a:pt x="10740276" y="5916717"/>
                </a:lnTo>
                <a:lnTo>
                  <a:pt x="0" y="5916717"/>
                </a:lnTo>
                <a:lnTo>
                  <a:pt x="0" y="0"/>
                </a:lnTo>
                <a:close/>
              </a:path>
            </a:pathLst>
          </a:custGeom>
          <a:blipFill>
            <a:blip r:embed="rId3"/>
            <a:stretch>
              <a:fillRect l="0" t="0" r="0" b="0"/>
            </a:stretch>
          </a:blipFill>
        </p:spPr>
      </p:sp>
      <p:sp>
        <p:nvSpPr>
          <p:cNvPr name="TextBox 4" id="4"/>
          <p:cNvSpPr txBox="true"/>
          <p:nvPr/>
        </p:nvSpPr>
        <p:spPr>
          <a:xfrm rot="0">
            <a:off x="1028700" y="933450"/>
            <a:ext cx="6848808" cy="821055"/>
          </a:xfrm>
          <a:prstGeom prst="rect">
            <a:avLst/>
          </a:prstGeom>
        </p:spPr>
        <p:txBody>
          <a:bodyPr anchor="t" rtlCol="false" tIns="0" lIns="0" bIns="0" rIns="0">
            <a:spAutoFit/>
          </a:bodyPr>
          <a:lstStyle/>
          <a:p>
            <a:pPr algn="l">
              <a:lnSpc>
                <a:spcPts val="6719"/>
              </a:lnSpc>
            </a:pPr>
            <a:r>
              <a:rPr lang="en-US" sz="4800">
                <a:solidFill>
                  <a:srgbClr val="000000"/>
                </a:solidFill>
                <a:latin typeface="Archivo Black"/>
                <a:ea typeface="Archivo Black"/>
                <a:cs typeface="Archivo Black"/>
                <a:sym typeface="Archivo Black"/>
              </a:rPr>
              <a:t>USE CASE DIAGRAM</a:t>
            </a:r>
          </a:p>
        </p:txBody>
      </p:sp>
      <p:sp>
        <p:nvSpPr>
          <p:cNvPr name="TextBox 5" id="5"/>
          <p:cNvSpPr txBox="true"/>
          <p:nvPr/>
        </p:nvSpPr>
        <p:spPr>
          <a:xfrm rot="0">
            <a:off x="1028700" y="3560569"/>
            <a:ext cx="6326776" cy="405765"/>
          </a:xfrm>
          <a:prstGeom prst="rect">
            <a:avLst/>
          </a:prstGeom>
        </p:spPr>
        <p:txBody>
          <a:bodyPr anchor="t" rtlCol="false" tIns="0" lIns="0" bIns="0" rIns="0">
            <a:spAutoFit/>
          </a:bodyPr>
          <a:lstStyle/>
          <a:p>
            <a:pPr algn="l">
              <a:lnSpc>
                <a:spcPts val="3359"/>
              </a:lnSpc>
            </a:pPr>
            <a:r>
              <a:rPr lang="en-US" sz="2400">
                <a:solidFill>
                  <a:srgbClr val="000000"/>
                </a:solidFill>
                <a:latin typeface="Archivo Black"/>
                <a:ea typeface="Archivo Black"/>
                <a:cs typeface="Archivo Black"/>
                <a:sym typeface="Archivo Black"/>
              </a:rPr>
              <a:t>Main Actors</a:t>
            </a:r>
          </a:p>
        </p:txBody>
      </p:sp>
      <p:sp>
        <p:nvSpPr>
          <p:cNvPr name="TextBox 6" id="6"/>
          <p:cNvSpPr txBox="true"/>
          <p:nvPr/>
        </p:nvSpPr>
        <p:spPr>
          <a:xfrm rot="0">
            <a:off x="1028700" y="4408046"/>
            <a:ext cx="7527756" cy="2270760"/>
          </a:xfrm>
          <a:prstGeom prst="rect">
            <a:avLst/>
          </a:prstGeom>
        </p:spPr>
        <p:txBody>
          <a:bodyPr anchor="t" rtlCol="false" tIns="0" lIns="0" bIns="0" rIns="0">
            <a:spAutoFit/>
          </a:bodyPr>
          <a:lstStyle/>
          <a:p>
            <a:pPr algn="just" marL="518160" indent="-259080" lvl="1">
              <a:lnSpc>
                <a:spcPts val="3600"/>
              </a:lnSpc>
              <a:buFont typeface="Arial"/>
              <a:buChar char="•"/>
            </a:pPr>
            <a:r>
              <a:rPr lang="en-US" sz="2400">
                <a:solidFill>
                  <a:srgbClr val="2E605D"/>
                </a:solidFill>
                <a:latin typeface="Archivo Black"/>
                <a:ea typeface="Archivo Black"/>
                <a:cs typeface="Archivo Black"/>
                <a:sym typeface="Archivo Black"/>
              </a:rPr>
              <a:t>Faculty Member</a:t>
            </a:r>
          </a:p>
          <a:p>
            <a:pPr algn="just">
              <a:lnSpc>
                <a:spcPts val="3600"/>
              </a:lnSpc>
            </a:pPr>
          </a:p>
          <a:p>
            <a:pPr algn="just" marL="518160" indent="-259080" lvl="1">
              <a:lnSpc>
                <a:spcPts val="3600"/>
              </a:lnSpc>
              <a:buFont typeface="Arial"/>
              <a:buChar char="•"/>
            </a:pPr>
            <a:r>
              <a:rPr lang="en-US" sz="2400">
                <a:solidFill>
                  <a:srgbClr val="2E605D"/>
                </a:solidFill>
                <a:latin typeface="Archivo Black"/>
                <a:ea typeface="Archivo Black"/>
                <a:cs typeface="Archivo Black"/>
                <a:sym typeface="Archivo Black"/>
              </a:rPr>
              <a:t>Head of Department</a:t>
            </a:r>
          </a:p>
          <a:p>
            <a:pPr algn="just">
              <a:lnSpc>
                <a:spcPts val="3600"/>
              </a:lnSpc>
            </a:pPr>
          </a:p>
          <a:p>
            <a:pPr algn="just" marL="518160" indent="-259080" lvl="1">
              <a:lnSpc>
                <a:spcPts val="3600"/>
              </a:lnSpc>
              <a:buFont typeface="Arial"/>
              <a:buChar char="•"/>
            </a:pPr>
            <a:r>
              <a:rPr lang="en-US" sz="2400">
                <a:solidFill>
                  <a:srgbClr val="2E605D"/>
                </a:solidFill>
                <a:latin typeface="Archivo Black"/>
                <a:ea typeface="Archivo Black"/>
                <a:cs typeface="Archivo Black"/>
                <a:sym typeface="Archivo Black"/>
              </a:rPr>
              <a:t>System Administrator</a:t>
            </a:r>
          </a:p>
        </p:txBody>
      </p:sp>
      <p:sp>
        <p:nvSpPr>
          <p:cNvPr name="TextBox 7" id="7"/>
          <p:cNvSpPr txBox="true"/>
          <p:nvPr/>
        </p:nvSpPr>
        <p:spPr>
          <a:xfrm rot="0">
            <a:off x="14091936" y="9520382"/>
            <a:ext cx="3167364" cy="405765"/>
          </a:xfrm>
          <a:prstGeom prst="rect">
            <a:avLst/>
          </a:prstGeom>
        </p:spPr>
        <p:txBody>
          <a:bodyPr anchor="t" rtlCol="false" tIns="0" lIns="0" bIns="0" rIns="0">
            <a:spAutoFit/>
          </a:bodyPr>
          <a:lstStyle/>
          <a:p>
            <a:pPr algn="r">
              <a:lnSpc>
                <a:spcPts val="3359"/>
              </a:lnSpc>
            </a:pPr>
            <a:r>
              <a:rPr lang="en-US" sz="2400">
                <a:solidFill>
                  <a:srgbClr val="000000"/>
                </a:solidFill>
                <a:latin typeface="Archivo Black"/>
                <a:ea typeface="Archivo Black"/>
                <a:cs typeface="Archivo Black"/>
                <a:sym typeface="Archivo Black"/>
              </a:rPr>
              <a:t>6</a:t>
            </a:r>
          </a:p>
        </p:txBody>
      </p:sp>
      <p:sp>
        <p:nvSpPr>
          <p:cNvPr name="TextBox 8" id="8"/>
          <p:cNvSpPr txBox="true"/>
          <p:nvPr/>
        </p:nvSpPr>
        <p:spPr>
          <a:xfrm rot="0">
            <a:off x="1578627" y="1780055"/>
            <a:ext cx="5591274" cy="573828"/>
          </a:xfrm>
          <a:prstGeom prst="rect">
            <a:avLst/>
          </a:prstGeom>
        </p:spPr>
        <p:txBody>
          <a:bodyPr anchor="t" rtlCol="false" tIns="0" lIns="0" bIns="0" rIns="0">
            <a:spAutoFit/>
          </a:bodyPr>
          <a:lstStyle/>
          <a:p>
            <a:pPr algn="ctr">
              <a:lnSpc>
                <a:spcPts val="4596"/>
              </a:lnSpc>
              <a:spcBef>
                <a:spcPct val="0"/>
              </a:spcBef>
            </a:pPr>
            <a:r>
              <a:rPr lang="en-US" sz="3283">
                <a:solidFill>
                  <a:srgbClr val="125B50"/>
                </a:solidFill>
                <a:latin typeface="Archivo Black"/>
                <a:ea typeface="Archivo Black"/>
                <a:cs typeface="Archivo Black"/>
                <a:sym typeface="Archivo Black"/>
              </a:rPr>
              <a:t>User Roles/Stakeholders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F6F2"/>
        </a:solidFill>
      </p:bgPr>
    </p:bg>
    <p:spTree>
      <p:nvGrpSpPr>
        <p:cNvPr id="1" name=""/>
        <p:cNvGrpSpPr/>
        <p:nvPr/>
      </p:nvGrpSpPr>
      <p:grpSpPr>
        <a:xfrm>
          <a:off x="0" y="0"/>
          <a:ext cx="0" cy="0"/>
          <a:chOff x="0" y="0"/>
          <a:chExt cx="0" cy="0"/>
        </a:xfrm>
      </p:grpSpPr>
      <p:sp>
        <p:nvSpPr>
          <p:cNvPr name="AutoShape 2" id="2"/>
          <p:cNvSpPr/>
          <p:nvPr/>
        </p:nvSpPr>
        <p:spPr>
          <a:xfrm>
            <a:off x="5199299" y="5062538"/>
            <a:ext cx="11821876" cy="0"/>
          </a:xfrm>
          <a:prstGeom prst="line">
            <a:avLst/>
          </a:prstGeom>
          <a:ln cap="flat" w="9525">
            <a:solidFill>
              <a:srgbClr val="125B50"/>
            </a:solidFill>
            <a:prstDash val="solid"/>
            <a:headEnd type="none" len="sm" w="sm"/>
            <a:tailEnd type="none" len="sm" w="sm"/>
          </a:ln>
        </p:spPr>
      </p:sp>
      <p:sp>
        <p:nvSpPr>
          <p:cNvPr name="AutoShape 3" id="3"/>
          <p:cNvSpPr/>
          <p:nvPr/>
        </p:nvSpPr>
        <p:spPr>
          <a:xfrm rot="5400000">
            <a:off x="7277197" y="4837811"/>
            <a:ext cx="7627747" cy="0"/>
          </a:xfrm>
          <a:prstGeom prst="line">
            <a:avLst/>
          </a:prstGeom>
          <a:ln cap="flat" w="9525">
            <a:solidFill>
              <a:srgbClr val="125B50"/>
            </a:solidFill>
            <a:prstDash val="solid"/>
            <a:headEnd type="none" len="sm" w="sm"/>
            <a:tailEnd type="none" len="sm" w="sm"/>
          </a:ln>
        </p:spPr>
      </p:sp>
      <p:sp>
        <p:nvSpPr>
          <p:cNvPr name="Freeform 4" id="4"/>
          <p:cNvSpPr/>
          <p:nvPr/>
        </p:nvSpPr>
        <p:spPr>
          <a:xfrm flipH="false" flipV="false" rot="0">
            <a:off x="0" y="0"/>
            <a:ext cx="4408724" cy="691916"/>
          </a:xfrm>
          <a:custGeom>
            <a:avLst/>
            <a:gdLst/>
            <a:ahLst/>
            <a:cxnLst/>
            <a:rect r="r" b="b" t="t" l="l"/>
            <a:pathLst>
              <a:path h="691916" w="4408724">
                <a:moveTo>
                  <a:pt x="0" y="0"/>
                </a:moveTo>
                <a:lnTo>
                  <a:pt x="4408724" y="0"/>
                </a:lnTo>
                <a:lnTo>
                  <a:pt x="4408724" y="691916"/>
                </a:lnTo>
                <a:lnTo>
                  <a:pt x="0" y="691916"/>
                </a:lnTo>
                <a:lnTo>
                  <a:pt x="0" y="0"/>
                </a:lnTo>
                <a:close/>
              </a:path>
            </a:pathLst>
          </a:custGeom>
          <a:blipFill>
            <a:blip r:embed="rId2"/>
            <a:stretch>
              <a:fillRect l="-101782" t="-131819" r="-109423" b="-1089307"/>
            </a:stretch>
          </a:blipFill>
        </p:spPr>
      </p:sp>
      <p:sp>
        <p:nvSpPr>
          <p:cNvPr name="Freeform 5" id="5"/>
          <p:cNvSpPr/>
          <p:nvPr/>
        </p:nvSpPr>
        <p:spPr>
          <a:xfrm flipH="false" flipV="true" rot="0">
            <a:off x="0" y="9568007"/>
            <a:ext cx="4408724" cy="718993"/>
          </a:xfrm>
          <a:custGeom>
            <a:avLst/>
            <a:gdLst/>
            <a:ahLst/>
            <a:cxnLst/>
            <a:rect r="r" b="b" t="t" l="l"/>
            <a:pathLst>
              <a:path h="718993" w="4408724">
                <a:moveTo>
                  <a:pt x="0" y="718993"/>
                </a:moveTo>
                <a:lnTo>
                  <a:pt x="4408724" y="718993"/>
                </a:lnTo>
                <a:lnTo>
                  <a:pt x="4408724" y="0"/>
                </a:lnTo>
                <a:lnTo>
                  <a:pt x="0" y="0"/>
                </a:lnTo>
                <a:lnTo>
                  <a:pt x="0" y="718993"/>
                </a:lnTo>
                <a:close/>
              </a:path>
            </a:pathLst>
          </a:custGeom>
          <a:blipFill>
            <a:blip r:embed="rId2"/>
            <a:stretch>
              <a:fillRect l="-101782" t="-123089" r="-109423" b="-1048285"/>
            </a:stretch>
          </a:blipFill>
        </p:spPr>
      </p:sp>
      <p:grpSp>
        <p:nvGrpSpPr>
          <p:cNvPr name="Group 6" id="6"/>
          <p:cNvGrpSpPr/>
          <p:nvPr/>
        </p:nvGrpSpPr>
        <p:grpSpPr>
          <a:xfrm rot="0">
            <a:off x="4553876" y="1533161"/>
            <a:ext cx="5312988" cy="3187793"/>
            <a:chOff x="0" y="0"/>
            <a:chExt cx="6350000" cy="3810000"/>
          </a:xfrm>
        </p:grpSpPr>
        <p:sp>
          <p:nvSpPr>
            <p:cNvPr name="Freeform 7" id="7"/>
            <p:cNvSpPr/>
            <p:nvPr/>
          </p:nvSpPr>
          <p:spPr>
            <a:xfrm flipH="false" flipV="false" rot="0">
              <a:off x="0" y="0"/>
              <a:ext cx="6350000" cy="3810000"/>
            </a:xfrm>
            <a:custGeom>
              <a:avLst/>
              <a:gdLst/>
              <a:ahLst/>
              <a:cxnLst/>
              <a:rect r="r" b="b" t="t" l="l"/>
              <a:pathLst>
                <a:path h="3810000" w="6350000">
                  <a:moveTo>
                    <a:pt x="0" y="3175000"/>
                  </a:moveTo>
                  <a:lnTo>
                    <a:pt x="0" y="635000"/>
                  </a:lnTo>
                  <a:cubicBezTo>
                    <a:pt x="0" y="284480"/>
                    <a:pt x="284480" y="0"/>
                    <a:pt x="635000" y="0"/>
                  </a:cubicBezTo>
                  <a:lnTo>
                    <a:pt x="5715000" y="0"/>
                  </a:lnTo>
                  <a:cubicBezTo>
                    <a:pt x="6065520" y="0"/>
                    <a:pt x="6350000" y="284480"/>
                    <a:pt x="6350000" y="635000"/>
                  </a:cubicBezTo>
                  <a:lnTo>
                    <a:pt x="6350000" y="3175000"/>
                  </a:lnTo>
                  <a:cubicBezTo>
                    <a:pt x="6350000" y="3525520"/>
                    <a:pt x="6065520" y="3810000"/>
                    <a:pt x="5715000" y="3810000"/>
                  </a:cubicBezTo>
                  <a:lnTo>
                    <a:pt x="635000" y="3810000"/>
                  </a:lnTo>
                  <a:cubicBezTo>
                    <a:pt x="284480" y="3810000"/>
                    <a:pt x="0" y="3525520"/>
                    <a:pt x="0" y="3175000"/>
                  </a:cubicBezTo>
                  <a:close/>
                </a:path>
              </a:pathLst>
            </a:custGeom>
            <a:blipFill>
              <a:blip r:embed="rId3"/>
              <a:stretch>
                <a:fillRect l="-14960" t="0" r="-14960" b="0"/>
              </a:stretch>
            </a:blipFill>
            <a:ln w="38100" cap="sq">
              <a:solidFill>
                <a:srgbClr val="000000"/>
              </a:solidFill>
              <a:prstDash val="solid"/>
              <a:miter/>
            </a:ln>
          </p:spPr>
        </p:sp>
      </p:grpSp>
      <p:grpSp>
        <p:nvGrpSpPr>
          <p:cNvPr name="Group 8" id="8"/>
          <p:cNvGrpSpPr/>
          <p:nvPr/>
        </p:nvGrpSpPr>
        <p:grpSpPr>
          <a:xfrm rot="0">
            <a:off x="11435442" y="1508032"/>
            <a:ext cx="5312988" cy="3187793"/>
            <a:chOff x="0" y="0"/>
            <a:chExt cx="6350000" cy="3810000"/>
          </a:xfrm>
        </p:grpSpPr>
        <p:sp>
          <p:nvSpPr>
            <p:cNvPr name="Freeform 9" id="9"/>
            <p:cNvSpPr/>
            <p:nvPr/>
          </p:nvSpPr>
          <p:spPr>
            <a:xfrm flipH="false" flipV="false" rot="0">
              <a:off x="0" y="0"/>
              <a:ext cx="6350000" cy="3810000"/>
            </a:xfrm>
            <a:custGeom>
              <a:avLst/>
              <a:gdLst/>
              <a:ahLst/>
              <a:cxnLst/>
              <a:rect r="r" b="b" t="t" l="l"/>
              <a:pathLst>
                <a:path h="3810000" w="6350000">
                  <a:moveTo>
                    <a:pt x="0" y="3175000"/>
                  </a:moveTo>
                  <a:lnTo>
                    <a:pt x="0" y="635000"/>
                  </a:lnTo>
                  <a:cubicBezTo>
                    <a:pt x="0" y="284480"/>
                    <a:pt x="284480" y="0"/>
                    <a:pt x="635000" y="0"/>
                  </a:cubicBezTo>
                  <a:lnTo>
                    <a:pt x="5715000" y="0"/>
                  </a:lnTo>
                  <a:cubicBezTo>
                    <a:pt x="6065520" y="0"/>
                    <a:pt x="6350000" y="284480"/>
                    <a:pt x="6350000" y="635000"/>
                  </a:cubicBezTo>
                  <a:lnTo>
                    <a:pt x="6350000" y="3175000"/>
                  </a:lnTo>
                  <a:cubicBezTo>
                    <a:pt x="6350000" y="3525520"/>
                    <a:pt x="6065520" y="3810000"/>
                    <a:pt x="5715000" y="3810000"/>
                  </a:cubicBezTo>
                  <a:lnTo>
                    <a:pt x="635000" y="3810000"/>
                  </a:lnTo>
                  <a:cubicBezTo>
                    <a:pt x="284480" y="3810000"/>
                    <a:pt x="0" y="3525520"/>
                    <a:pt x="0" y="3175000"/>
                  </a:cubicBezTo>
                  <a:close/>
                </a:path>
              </a:pathLst>
            </a:custGeom>
            <a:blipFill>
              <a:blip r:embed="rId4"/>
              <a:stretch>
                <a:fillRect l="0" t="0" r="0" b="-12083"/>
              </a:stretch>
            </a:blipFill>
            <a:ln w="38100" cap="sq">
              <a:solidFill>
                <a:srgbClr val="000000"/>
              </a:solidFill>
              <a:prstDash val="solid"/>
              <a:miter/>
            </a:ln>
          </p:spPr>
        </p:sp>
      </p:grpSp>
      <p:grpSp>
        <p:nvGrpSpPr>
          <p:cNvPr name="Group 10" id="10"/>
          <p:cNvGrpSpPr/>
          <p:nvPr/>
        </p:nvGrpSpPr>
        <p:grpSpPr>
          <a:xfrm rot="0">
            <a:off x="4553876" y="5933612"/>
            <a:ext cx="5312988" cy="3187793"/>
            <a:chOff x="0" y="0"/>
            <a:chExt cx="6350000" cy="3810000"/>
          </a:xfrm>
        </p:grpSpPr>
        <p:sp>
          <p:nvSpPr>
            <p:cNvPr name="Freeform 11" id="11"/>
            <p:cNvSpPr/>
            <p:nvPr/>
          </p:nvSpPr>
          <p:spPr>
            <a:xfrm flipH="false" flipV="false" rot="0">
              <a:off x="0" y="0"/>
              <a:ext cx="6350000" cy="3810000"/>
            </a:xfrm>
            <a:custGeom>
              <a:avLst/>
              <a:gdLst/>
              <a:ahLst/>
              <a:cxnLst/>
              <a:rect r="r" b="b" t="t" l="l"/>
              <a:pathLst>
                <a:path h="3810000" w="6350000">
                  <a:moveTo>
                    <a:pt x="0" y="3175000"/>
                  </a:moveTo>
                  <a:lnTo>
                    <a:pt x="0" y="635000"/>
                  </a:lnTo>
                  <a:cubicBezTo>
                    <a:pt x="0" y="284480"/>
                    <a:pt x="284480" y="0"/>
                    <a:pt x="635000" y="0"/>
                  </a:cubicBezTo>
                  <a:lnTo>
                    <a:pt x="5715000" y="0"/>
                  </a:lnTo>
                  <a:cubicBezTo>
                    <a:pt x="6065520" y="0"/>
                    <a:pt x="6350000" y="284480"/>
                    <a:pt x="6350000" y="635000"/>
                  </a:cubicBezTo>
                  <a:lnTo>
                    <a:pt x="6350000" y="3175000"/>
                  </a:lnTo>
                  <a:cubicBezTo>
                    <a:pt x="6350000" y="3525520"/>
                    <a:pt x="6065520" y="3810000"/>
                    <a:pt x="5715000" y="3810000"/>
                  </a:cubicBezTo>
                  <a:lnTo>
                    <a:pt x="635000" y="3810000"/>
                  </a:lnTo>
                  <a:cubicBezTo>
                    <a:pt x="284480" y="3810000"/>
                    <a:pt x="0" y="3525520"/>
                    <a:pt x="0" y="3175000"/>
                  </a:cubicBezTo>
                  <a:close/>
                </a:path>
              </a:pathLst>
            </a:custGeom>
            <a:blipFill>
              <a:blip r:embed="rId5"/>
              <a:stretch>
                <a:fillRect l="0" t="0" r="0" b="-7916"/>
              </a:stretch>
            </a:blipFill>
            <a:ln w="38100" cap="sq">
              <a:solidFill>
                <a:srgbClr val="000000"/>
              </a:solidFill>
              <a:prstDash val="solid"/>
              <a:miter/>
            </a:ln>
          </p:spPr>
        </p:sp>
      </p:grpSp>
      <p:grpSp>
        <p:nvGrpSpPr>
          <p:cNvPr name="Group 12" id="12"/>
          <p:cNvGrpSpPr/>
          <p:nvPr/>
        </p:nvGrpSpPr>
        <p:grpSpPr>
          <a:xfrm rot="0">
            <a:off x="11435442" y="5790737"/>
            <a:ext cx="5312988" cy="3187793"/>
            <a:chOff x="0" y="0"/>
            <a:chExt cx="6350000" cy="3810000"/>
          </a:xfrm>
        </p:grpSpPr>
        <p:sp>
          <p:nvSpPr>
            <p:cNvPr name="Freeform 13" id="13"/>
            <p:cNvSpPr/>
            <p:nvPr/>
          </p:nvSpPr>
          <p:spPr>
            <a:xfrm flipH="false" flipV="false" rot="0">
              <a:off x="0" y="0"/>
              <a:ext cx="6350000" cy="3810000"/>
            </a:xfrm>
            <a:custGeom>
              <a:avLst/>
              <a:gdLst/>
              <a:ahLst/>
              <a:cxnLst/>
              <a:rect r="r" b="b" t="t" l="l"/>
              <a:pathLst>
                <a:path h="3810000" w="6350000">
                  <a:moveTo>
                    <a:pt x="0" y="3175000"/>
                  </a:moveTo>
                  <a:lnTo>
                    <a:pt x="0" y="635000"/>
                  </a:lnTo>
                  <a:cubicBezTo>
                    <a:pt x="0" y="284480"/>
                    <a:pt x="284480" y="0"/>
                    <a:pt x="635000" y="0"/>
                  </a:cubicBezTo>
                  <a:lnTo>
                    <a:pt x="5715000" y="0"/>
                  </a:lnTo>
                  <a:cubicBezTo>
                    <a:pt x="6065520" y="0"/>
                    <a:pt x="6350000" y="284480"/>
                    <a:pt x="6350000" y="635000"/>
                  </a:cubicBezTo>
                  <a:lnTo>
                    <a:pt x="6350000" y="3175000"/>
                  </a:lnTo>
                  <a:cubicBezTo>
                    <a:pt x="6350000" y="3525520"/>
                    <a:pt x="6065520" y="3810000"/>
                    <a:pt x="5715000" y="3810000"/>
                  </a:cubicBezTo>
                  <a:lnTo>
                    <a:pt x="635000" y="3810000"/>
                  </a:lnTo>
                  <a:cubicBezTo>
                    <a:pt x="284480" y="3810000"/>
                    <a:pt x="0" y="3525520"/>
                    <a:pt x="0" y="3175000"/>
                  </a:cubicBezTo>
                  <a:close/>
                </a:path>
              </a:pathLst>
            </a:custGeom>
            <a:blipFill>
              <a:blip r:embed="rId6"/>
              <a:stretch>
                <a:fillRect l="0" t="0" r="0" b="-12460"/>
              </a:stretch>
            </a:blipFill>
            <a:ln w="38100" cap="sq">
              <a:solidFill>
                <a:srgbClr val="000000"/>
              </a:solidFill>
              <a:prstDash val="solid"/>
              <a:miter/>
            </a:ln>
          </p:spPr>
        </p:sp>
      </p:grpSp>
      <p:sp>
        <p:nvSpPr>
          <p:cNvPr name="TextBox 14" id="14"/>
          <p:cNvSpPr txBox="true"/>
          <p:nvPr/>
        </p:nvSpPr>
        <p:spPr>
          <a:xfrm rot="0">
            <a:off x="5437424" y="981075"/>
            <a:ext cx="3545891" cy="405765"/>
          </a:xfrm>
          <a:prstGeom prst="rect">
            <a:avLst/>
          </a:prstGeom>
        </p:spPr>
        <p:txBody>
          <a:bodyPr anchor="t" rtlCol="false" tIns="0" lIns="0" bIns="0" rIns="0">
            <a:spAutoFit/>
          </a:bodyPr>
          <a:lstStyle/>
          <a:p>
            <a:pPr algn="l">
              <a:lnSpc>
                <a:spcPts val="3359"/>
              </a:lnSpc>
            </a:pPr>
            <a:r>
              <a:rPr lang="en-US" sz="2400">
                <a:solidFill>
                  <a:srgbClr val="125B50"/>
                </a:solidFill>
                <a:latin typeface="Archivo Black"/>
                <a:ea typeface="Archivo Black"/>
                <a:cs typeface="Archivo Black"/>
                <a:sym typeface="Archivo Black"/>
              </a:rPr>
              <a:t>Login/Sign Up</a:t>
            </a:r>
          </a:p>
        </p:txBody>
      </p:sp>
      <p:sp>
        <p:nvSpPr>
          <p:cNvPr name="TextBox 15" id="15"/>
          <p:cNvSpPr txBox="true"/>
          <p:nvPr/>
        </p:nvSpPr>
        <p:spPr>
          <a:xfrm rot="0">
            <a:off x="11650130" y="981075"/>
            <a:ext cx="3545891" cy="405765"/>
          </a:xfrm>
          <a:prstGeom prst="rect">
            <a:avLst/>
          </a:prstGeom>
        </p:spPr>
        <p:txBody>
          <a:bodyPr anchor="t" rtlCol="false" tIns="0" lIns="0" bIns="0" rIns="0">
            <a:spAutoFit/>
          </a:bodyPr>
          <a:lstStyle/>
          <a:p>
            <a:pPr algn="l">
              <a:lnSpc>
                <a:spcPts val="3359"/>
              </a:lnSpc>
            </a:pPr>
            <a:r>
              <a:rPr lang="en-US" sz="2400">
                <a:solidFill>
                  <a:srgbClr val="125B50"/>
                </a:solidFill>
                <a:latin typeface="Archivo Black"/>
                <a:ea typeface="Archivo Black"/>
                <a:cs typeface="Archivo Black"/>
                <a:sym typeface="Archivo Black"/>
              </a:rPr>
              <a:t>Main Dashboard</a:t>
            </a:r>
          </a:p>
        </p:txBody>
      </p:sp>
      <p:sp>
        <p:nvSpPr>
          <p:cNvPr name="TextBox 16" id="16"/>
          <p:cNvSpPr txBox="true"/>
          <p:nvPr/>
        </p:nvSpPr>
        <p:spPr>
          <a:xfrm rot="0">
            <a:off x="5437424" y="5384972"/>
            <a:ext cx="3545891" cy="405765"/>
          </a:xfrm>
          <a:prstGeom prst="rect">
            <a:avLst/>
          </a:prstGeom>
        </p:spPr>
        <p:txBody>
          <a:bodyPr anchor="t" rtlCol="false" tIns="0" lIns="0" bIns="0" rIns="0">
            <a:spAutoFit/>
          </a:bodyPr>
          <a:lstStyle/>
          <a:p>
            <a:pPr algn="l">
              <a:lnSpc>
                <a:spcPts val="3359"/>
              </a:lnSpc>
            </a:pPr>
            <a:r>
              <a:rPr lang="en-US" sz="2400">
                <a:solidFill>
                  <a:srgbClr val="125B50"/>
                </a:solidFill>
                <a:latin typeface="Archivo Black"/>
                <a:ea typeface="Archivo Black"/>
                <a:cs typeface="Archivo Black"/>
                <a:sym typeface="Archivo Black"/>
              </a:rPr>
              <a:t>AI Analysis Page</a:t>
            </a:r>
          </a:p>
        </p:txBody>
      </p:sp>
      <p:sp>
        <p:nvSpPr>
          <p:cNvPr name="TextBox 17" id="17"/>
          <p:cNvSpPr txBox="true"/>
          <p:nvPr/>
        </p:nvSpPr>
        <p:spPr>
          <a:xfrm rot="0">
            <a:off x="691797" y="3994785"/>
            <a:ext cx="4013855" cy="1668780"/>
          </a:xfrm>
          <a:prstGeom prst="rect">
            <a:avLst/>
          </a:prstGeom>
        </p:spPr>
        <p:txBody>
          <a:bodyPr anchor="t" rtlCol="false" tIns="0" lIns="0" bIns="0" rIns="0">
            <a:spAutoFit/>
          </a:bodyPr>
          <a:lstStyle/>
          <a:p>
            <a:pPr algn="l">
              <a:lnSpc>
                <a:spcPts val="6719"/>
              </a:lnSpc>
            </a:pPr>
            <a:r>
              <a:rPr lang="en-US" sz="4800">
                <a:solidFill>
                  <a:srgbClr val="000000"/>
                </a:solidFill>
                <a:latin typeface="Archivo Black"/>
                <a:ea typeface="Archivo Black"/>
                <a:cs typeface="Archivo Black"/>
                <a:sym typeface="Archivo Black"/>
              </a:rPr>
              <a:t>USER INTERFACE</a:t>
            </a:r>
          </a:p>
        </p:txBody>
      </p:sp>
      <p:sp>
        <p:nvSpPr>
          <p:cNvPr name="TextBox 18" id="18"/>
          <p:cNvSpPr txBox="true"/>
          <p:nvPr/>
        </p:nvSpPr>
        <p:spPr>
          <a:xfrm rot="0">
            <a:off x="14091936" y="9520382"/>
            <a:ext cx="3167364" cy="405765"/>
          </a:xfrm>
          <a:prstGeom prst="rect">
            <a:avLst/>
          </a:prstGeom>
        </p:spPr>
        <p:txBody>
          <a:bodyPr anchor="t" rtlCol="false" tIns="0" lIns="0" bIns="0" rIns="0">
            <a:spAutoFit/>
          </a:bodyPr>
          <a:lstStyle/>
          <a:p>
            <a:pPr algn="r">
              <a:lnSpc>
                <a:spcPts val="3359"/>
              </a:lnSpc>
            </a:pPr>
            <a:r>
              <a:rPr lang="en-US" sz="2400">
                <a:solidFill>
                  <a:srgbClr val="000000"/>
                </a:solidFill>
                <a:latin typeface="Archivo Black"/>
                <a:ea typeface="Archivo Black"/>
                <a:cs typeface="Archivo Black"/>
                <a:sym typeface="Archivo Black"/>
              </a:rPr>
              <a:t>7</a:t>
            </a:r>
          </a:p>
        </p:txBody>
      </p:sp>
      <p:sp>
        <p:nvSpPr>
          <p:cNvPr name="TextBox 19" id="19"/>
          <p:cNvSpPr txBox="true"/>
          <p:nvPr/>
        </p:nvSpPr>
        <p:spPr>
          <a:xfrm rot="0">
            <a:off x="11650130" y="5308772"/>
            <a:ext cx="3545891" cy="405765"/>
          </a:xfrm>
          <a:prstGeom prst="rect">
            <a:avLst/>
          </a:prstGeom>
        </p:spPr>
        <p:txBody>
          <a:bodyPr anchor="t" rtlCol="false" tIns="0" lIns="0" bIns="0" rIns="0">
            <a:spAutoFit/>
          </a:bodyPr>
          <a:lstStyle/>
          <a:p>
            <a:pPr algn="l">
              <a:lnSpc>
                <a:spcPts val="3359"/>
              </a:lnSpc>
            </a:pPr>
            <a:r>
              <a:rPr lang="en-US" sz="2400">
                <a:solidFill>
                  <a:srgbClr val="125B50"/>
                </a:solidFill>
                <a:latin typeface="Archivo Black"/>
                <a:ea typeface="Archivo Black"/>
                <a:cs typeface="Archivo Black"/>
                <a:sym typeface="Archivo Black"/>
              </a:rPr>
              <a:t>Preferences Page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F6F2"/>
        </a:solidFill>
      </p:bgPr>
    </p:bg>
    <p:spTree>
      <p:nvGrpSpPr>
        <p:cNvPr id="1" name=""/>
        <p:cNvGrpSpPr/>
        <p:nvPr/>
      </p:nvGrpSpPr>
      <p:grpSpPr>
        <a:xfrm>
          <a:off x="0" y="0"/>
          <a:ext cx="0" cy="0"/>
          <a:chOff x="0" y="0"/>
          <a:chExt cx="0" cy="0"/>
        </a:xfrm>
      </p:grpSpPr>
      <p:grpSp>
        <p:nvGrpSpPr>
          <p:cNvPr name="Group 2" id="2"/>
          <p:cNvGrpSpPr/>
          <p:nvPr/>
        </p:nvGrpSpPr>
        <p:grpSpPr>
          <a:xfrm rot="0">
            <a:off x="1250676" y="2296184"/>
            <a:ext cx="15786649" cy="1143568"/>
            <a:chOff x="0" y="0"/>
            <a:chExt cx="4744463" cy="343684"/>
          </a:xfrm>
        </p:grpSpPr>
        <p:sp>
          <p:nvSpPr>
            <p:cNvPr name="Freeform 3" id="3"/>
            <p:cNvSpPr/>
            <p:nvPr/>
          </p:nvSpPr>
          <p:spPr>
            <a:xfrm flipH="false" flipV="false" rot="0">
              <a:off x="0" y="0"/>
              <a:ext cx="4744463" cy="343684"/>
            </a:xfrm>
            <a:custGeom>
              <a:avLst/>
              <a:gdLst/>
              <a:ahLst/>
              <a:cxnLst/>
              <a:rect r="r" b="b" t="t" l="l"/>
              <a:pathLst>
                <a:path h="343684" w="4744463">
                  <a:moveTo>
                    <a:pt x="4541263" y="0"/>
                  </a:moveTo>
                  <a:cubicBezTo>
                    <a:pt x="4653487" y="0"/>
                    <a:pt x="4744463" y="76936"/>
                    <a:pt x="4744463" y="171842"/>
                  </a:cubicBezTo>
                  <a:cubicBezTo>
                    <a:pt x="4744463" y="266748"/>
                    <a:pt x="4653487" y="343684"/>
                    <a:pt x="4541263" y="343684"/>
                  </a:cubicBezTo>
                  <a:lnTo>
                    <a:pt x="203200" y="343684"/>
                  </a:lnTo>
                  <a:cubicBezTo>
                    <a:pt x="90976" y="343684"/>
                    <a:pt x="0" y="266748"/>
                    <a:pt x="0" y="171842"/>
                  </a:cubicBezTo>
                  <a:cubicBezTo>
                    <a:pt x="0" y="76936"/>
                    <a:pt x="90976" y="0"/>
                    <a:pt x="203200" y="0"/>
                  </a:cubicBezTo>
                  <a:close/>
                </a:path>
              </a:pathLst>
            </a:custGeom>
            <a:solidFill>
              <a:srgbClr val="63B38A"/>
            </a:solidFill>
          </p:spPr>
        </p:sp>
        <p:sp>
          <p:nvSpPr>
            <p:cNvPr name="TextBox 4" id="4"/>
            <p:cNvSpPr txBox="true"/>
            <p:nvPr/>
          </p:nvSpPr>
          <p:spPr>
            <a:xfrm>
              <a:off x="0" y="-47625"/>
              <a:ext cx="4744463" cy="391309"/>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6194743" y="1053125"/>
            <a:ext cx="5050830" cy="605607"/>
          </a:xfrm>
          <a:prstGeom prst="rect">
            <a:avLst/>
          </a:prstGeom>
        </p:spPr>
        <p:txBody>
          <a:bodyPr anchor="t" rtlCol="false" tIns="0" lIns="0" bIns="0" rIns="0">
            <a:spAutoFit/>
          </a:bodyPr>
          <a:lstStyle/>
          <a:p>
            <a:pPr algn="ctr">
              <a:lnSpc>
                <a:spcPts val="4945"/>
              </a:lnSpc>
              <a:spcBef>
                <a:spcPct val="0"/>
              </a:spcBef>
            </a:pPr>
            <a:r>
              <a:rPr lang="en-US" sz="3532">
                <a:solidFill>
                  <a:srgbClr val="000000"/>
                </a:solidFill>
                <a:latin typeface="Archivo Black"/>
                <a:ea typeface="Archivo Black"/>
                <a:cs typeface="Archivo Black"/>
                <a:sym typeface="Archivo Black"/>
              </a:rPr>
              <a:t>AI Matching Process</a:t>
            </a:r>
          </a:p>
        </p:txBody>
      </p:sp>
      <p:sp>
        <p:nvSpPr>
          <p:cNvPr name="TextBox 6" id="6"/>
          <p:cNvSpPr txBox="true"/>
          <p:nvPr/>
        </p:nvSpPr>
        <p:spPr>
          <a:xfrm rot="0">
            <a:off x="1487889" y="2668446"/>
            <a:ext cx="17259300" cy="405765"/>
          </a:xfrm>
          <a:prstGeom prst="rect">
            <a:avLst/>
          </a:prstGeom>
        </p:spPr>
        <p:txBody>
          <a:bodyPr anchor="t" rtlCol="false" tIns="0" lIns="0" bIns="0" rIns="0">
            <a:spAutoFit/>
          </a:bodyPr>
          <a:lstStyle/>
          <a:p>
            <a:pPr algn="ctr" marL="518160" indent="-259080" lvl="1">
              <a:lnSpc>
                <a:spcPts val="3359"/>
              </a:lnSpc>
              <a:buAutoNum type="arabicPeriod" startAt="1"/>
            </a:pPr>
            <a:r>
              <a:rPr lang="en-US" sz="2400">
                <a:solidFill>
                  <a:srgbClr val="125B50"/>
                </a:solidFill>
                <a:latin typeface="Archivo Black"/>
                <a:ea typeface="Archivo Black"/>
                <a:cs typeface="Archivo Black"/>
                <a:sym typeface="Archivo Black"/>
              </a:rPr>
              <a:t>CV Extraction : System extracts skills, expertise, and past teaching</a:t>
            </a:r>
          </a:p>
        </p:txBody>
      </p:sp>
      <p:grpSp>
        <p:nvGrpSpPr>
          <p:cNvPr name="Group 7" id="7"/>
          <p:cNvGrpSpPr/>
          <p:nvPr/>
        </p:nvGrpSpPr>
        <p:grpSpPr>
          <a:xfrm rot="0">
            <a:off x="1250676" y="3817161"/>
            <a:ext cx="15786649" cy="1143568"/>
            <a:chOff x="0" y="0"/>
            <a:chExt cx="4744463" cy="343684"/>
          </a:xfrm>
        </p:grpSpPr>
        <p:sp>
          <p:nvSpPr>
            <p:cNvPr name="Freeform 8" id="8"/>
            <p:cNvSpPr/>
            <p:nvPr/>
          </p:nvSpPr>
          <p:spPr>
            <a:xfrm flipH="false" flipV="false" rot="0">
              <a:off x="0" y="0"/>
              <a:ext cx="4744463" cy="343684"/>
            </a:xfrm>
            <a:custGeom>
              <a:avLst/>
              <a:gdLst/>
              <a:ahLst/>
              <a:cxnLst/>
              <a:rect r="r" b="b" t="t" l="l"/>
              <a:pathLst>
                <a:path h="343684" w="4744463">
                  <a:moveTo>
                    <a:pt x="4541263" y="0"/>
                  </a:moveTo>
                  <a:cubicBezTo>
                    <a:pt x="4653487" y="0"/>
                    <a:pt x="4744463" y="76936"/>
                    <a:pt x="4744463" y="171842"/>
                  </a:cubicBezTo>
                  <a:cubicBezTo>
                    <a:pt x="4744463" y="266748"/>
                    <a:pt x="4653487" y="343684"/>
                    <a:pt x="4541263" y="343684"/>
                  </a:cubicBezTo>
                  <a:lnTo>
                    <a:pt x="203200" y="343684"/>
                  </a:lnTo>
                  <a:cubicBezTo>
                    <a:pt x="90976" y="343684"/>
                    <a:pt x="0" y="266748"/>
                    <a:pt x="0" y="171842"/>
                  </a:cubicBezTo>
                  <a:cubicBezTo>
                    <a:pt x="0" y="76936"/>
                    <a:pt x="90976" y="0"/>
                    <a:pt x="203200" y="0"/>
                  </a:cubicBezTo>
                  <a:close/>
                </a:path>
              </a:pathLst>
            </a:custGeom>
            <a:solidFill>
              <a:srgbClr val="63B38A"/>
            </a:solidFill>
          </p:spPr>
        </p:sp>
        <p:sp>
          <p:nvSpPr>
            <p:cNvPr name="TextBox 9" id="9"/>
            <p:cNvSpPr txBox="true"/>
            <p:nvPr/>
          </p:nvSpPr>
          <p:spPr>
            <a:xfrm>
              <a:off x="0" y="-47625"/>
              <a:ext cx="4744463" cy="391309"/>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0">
            <a:off x="1250676" y="5337351"/>
            <a:ext cx="15786649" cy="1143568"/>
            <a:chOff x="0" y="0"/>
            <a:chExt cx="4744463" cy="343684"/>
          </a:xfrm>
        </p:grpSpPr>
        <p:sp>
          <p:nvSpPr>
            <p:cNvPr name="Freeform 11" id="11"/>
            <p:cNvSpPr/>
            <p:nvPr/>
          </p:nvSpPr>
          <p:spPr>
            <a:xfrm flipH="false" flipV="false" rot="0">
              <a:off x="0" y="0"/>
              <a:ext cx="4744463" cy="343684"/>
            </a:xfrm>
            <a:custGeom>
              <a:avLst/>
              <a:gdLst/>
              <a:ahLst/>
              <a:cxnLst/>
              <a:rect r="r" b="b" t="t" l="l"/>
              <a:pathLst>
                <a:path h="343684" w="4744463">
                  <a:moveTo>
                    <a:pt x="4541263" y="0"/>
                  </a:moveTo>
                  <a:cubicBezTo>
                    <a:pt x="4653487" y="0"/>
                    <a:pt x="4744463" y="76936"/>
                    <a:pt x="4744463" y="171842"/>
                  </a:cubicBezTo>
                  <a:cubicBezTo>
                    <a:pt x="4744463" y="266748"/>
                    <a:pt x="4653487" y="343684"/>
                    <a:pt x="4541263" y="343684"/>
                  </a:cubicBezTo>
                  <a:lnTo>
                    <a:pt x="203200" y="343684"/>
                  </a:lnTo>
                  <a:cubicBezTo>
                    <a:pt x="90976" y="343684"/>
                    <a:pt x="0" y="266748"/>
                    <a:pt x="0" y="171842"/>
                  </a:cubicBezTo>
                  <a:cubicBezTo>
                    <a:pt x="0" y="76936"/>
                    <a:pt x="90976" y="0"/>
                    <a:pt x="203200" y="0"/>
                  </a:cubicBezTo>
                  <a:close/>
                </a:path>
              </a:pathLst>
            </a:custGeom>
            <a:solidFill>
              <a:srgbClr val="63B38A"/>
            </a:solidFill>
          </p:spPr>
        </p:sp>
        <p:sp>
          <p:nvSpPr>
            <p:cNvPr name="TextBox 12" id="12"/>
            <p:cNvSpPr txBox="true"/>
            <p:nvPr/>
          </p:nvSpPr>
          <p:spPr>
            <a:xfrm>
              <a:off x="0" y="-47625"/>
              <a:ext cx="4744463" cy="391309"/>
            </a:xfrm>
            <a:prstGeom prst="rect">
              <a:avLst/>
            </a:prstGeom>
          </p:spPr>
          <p:txBody>
            <a:bodyPr anchor="ctr" rtlCol="false" tIns="50800" lIns="50800" bIns="50800" rIns="50800"/>
            <a:lstStyle/>
            <a:p>
              <a:pPr algn="ctr">
                <a:lnSpc>
                  <a:spcPts val="3359"/>
                </a:lnSpc>
              </a:pPr>
            </a:p>
          </p:txBody>
        </p:sp>
      </p:grpSp>
      <p:sp>
        <p:nvSpPr>
          <p:cNvPr name="TextBox 13" id="13"/>
          <p:cNvSpPr txBox="true"/>
          <p:nvPr/>
        </p:nvSpPr>
        <p:spPr>
          <a:xfrm rot="0">
            <a:off x="1487889" y="4142807"/>
            <a:ext cx="14462422" cy="425601"/>
          </a:xfrm>
          <a:prstGeom prst="rect">
            <a:avLst/>
          </a:prstGeom>
        </p:spPr>
        <p:txBody>
          <a:bodyPr anchor="t" rtlCol="false" tIns="0" lIns="0" bIns="0" rIns="0">
            <a:spAutoFit/>
          </a:bodyPr>
          <a:lstStyle/>
          <a:p>
            <a:pPr algn="ctr" marL="511476" indent="-255738" lvl="1">
              <a:lnSpc>
                <a:spcPts val="3316"/>
              </a:lnSpc>
              <a:buAutoNum type="arabicPeriod" startAt="1"/>
            </a:pPr>
            <a:r>
              <a:rPr lang="en-US" sz="2369">
                <a:solidFill>
                  <a:srgbClr val="125B50"/>
                </a:solidFill>
                <a:latin typeface="Archivo Black"/>
                <a:ea typeface="Archivo Black"/>
                <a:cs typeface="Archivo Black"/>
                <a:sym typeface="Archivo Black"/>
              </a:rPr>
              <a:t>Course Requirement Analysis : AI checks what each course needs</a:t>
            </a:r>
          </a:p>
        </p:txBody>
      </p:sp>
      <p:grpSp>
        <p:nvGrpSpPr>
          <p:cNvPr name="Group 14" id="14"/>
          <p:cNvGrpSpPr/>
          <p:nvPr/>
        </p:nvGrpSpPr>
        <p:grpSpPr>
          <a:xfrm rot="0">
            <a:off x="1250676" y="6652085"/>
            <a:ext cx="15786649" cy="1143568"/>
            <a:chOff x="0" y="0"/>
            <a:chExt cx="4744463" cy="343684"/>
          </a:xfrm>
        </p:grpSpPr>
        <p:sp>
          <p:nvSpPr>
            <p:cNvPr name="Freeform 15" id="15"/>
            <p:cNvSpPr/>
            <p:nvPr/>
          </p:nvSpPr>
          <p:spPr>
            <a:xfrm flipH="false" flipV="false" rot="0">
              <a:off x="0" y="0"/>
              <a:ext cx="4744463" cy="343684"/>
            </a:xfrm>
            <a:custGeom>
              <a:avLst/>
              <a:gdLst/>
              <a:ahLst/>
              <a:cxnLst/>
              <a:rect r="r" b="b" t="t" l="l"/>
              <a:pathLst>
                <a:path h="343684" w="4744463">
                  <a:moveTo>
                    <a:pt x="4541263" y="0"/>
                  </a:moveTo>
                  <a:cubicBezTo>
                    <a:pt x="4653487" y="0"/>
                    <a:pt x="4744463" y="76936"/>
                    <a:pt x="4744463" y="171842"/>
                  </a:cubicBezTo>
                  <a:cubicBezTo>
                    <a:pt x="4744463" y="266748"/>
                    <a:pt x="4653487" y="343684"/>
                    <a:pt x="4541263" y="343684"/>
                  </a:cubicBezTo>
                  <a:lnTo>
                    <a:pt x="203200" y="343684"/>
                  </a:lnTo>
                  <a:cubicBezTo>
                    <a:pt x="90976" y="343684"/>
                    <a:pt x="0" y="266748"/>
                    <a:pt x="0" y="171842"/>
                  </a:cubicBezTo>
                  <a:cubicBezTo>
                    <a:pt x="0" y="76936"/>
                    <a:pt x="90976" y="0"/>
                    <a:pt x="203200" y="0"/>
                  </a:cubicBezTo>
                  <a:close/>
                </a:path>
              </a:pathLst>
            </a:custGeom>
            <a:solidFill>
              <a:srgbClr val="63B38A"/>
            </a:solidFill>
          </p:spPr>
        </p:sp>
        <p:sp>
          <p:nvSpPr>
            <p:cNvPr name="TextBox 16" id="16"/>
            <p:cNvSpPr txBox="true"/>
            <p:nvPr/>
          </p:nvSpPr>
          <p:spPr>
            <a:xfrm>
              <a:off x="0" y="-47625"/>
              <a:ext cx="4744463" cy="391309"/>
            </a:xfrm>
            <a:prstGeom prst="rect">
              <a:avLst/>
            </a:prstGeom>
          </p:spPr>
          <p:txBody>
            <a:bodyPr anchor="ctr" rtlCol="false" tIns="50800" lIns="50800" bIns="50800" rIns="50800"/>
            <a:lstStyle/>
            <a:p>
              <a:pPr algn="ctr">
                <a:lnSpc>
                  <a:spcPts val="3359"/>
                </a:lnSpc>
              </a:pPr>
            </a:p>
          </p:txBody>
        </p:sp>
      </p:grpSp>
      <p:sp>
        <p:nvSpPr>
          <p:cNvPr name="TextBox 17" id="17"/>
          <p:cNvSpPr txBox="true"/>
          <p:nvPr/>
        </p:nvSpPr>
        <p:spPr>
          <a:xfrm rot="0">
            <a:off x="1490006" y="6997174"/>
            <a:ext cx="14460305" cy="405765"/>
          </a:xfrm>
          <a:prstGeom prst="rect">
            <a:avLst/>
          </a:prstGeom>
        </p:spPr>
        <p:txBody>
          <a:bodyPr anchor="t" rtlCol="false" tIns="0" lIns="0" bIns="0" rIns="0">
            <a:spAutoFit/>
          </a:bodyPr>
          <a:lstStyle/>
          <a:p>
            <a:pPr algn="ctr" marL="518160" indent="-259080" lvl="1">
              <a:lnSpc>
                <a:spcPts val="3359"/>
              </a:lnSpc>
              <a:spcBef>
                <a:spcPct val="0"/>
              </a:spcBef>
              <a:buAutoNum type="arabicPeriod" startAt="1"/>
            </a:pPr>
            <a:r>
              <a:rPr lang="en-US" sz="2400">
                <a:solidFill>
                  <a:srgbClr val="125B50"/>
                </a:solidFill>
                <a:latin typeface="Archivo Black"/>
                <a:ea typeface="Archivo Black"/>
                <a:cs typeface="Archivo Black"/>
                <a:sym typeface="Archivo Black"/>
              </a:rPr>
              <a:t>Recommendations: System suggests the best instructor for each course</a:t>
            </a:r>
          </a:p>
        </p:txBody>
      </p:sp>
      <p:sp>
        <p:nvSpPr>
          <p:cNvPr name="TextBox 18" id="18"/>
          <p:cNvSpPr txBox="true"/>
          <p:nvPr/>
        </p:nvSpPr>
        <p:spPr>
          <a:xfrm rot="0">
            <a:off x="1487889" y="5741495"/>
            <a:ext cx="14117725" cy="405765"/>
          </a:xfrm>
          <a:prstGeom prst="rect">
            <a:avLst/>
          </a:prstGeom>
        </p:spPr>
        <p:txBody>
          <a:bodyPr anchor="t" rtlCol="false" tIns="0" lIns="0" bIns="0" rIns="0">
            <a:spAutoFit/>
          </a:bodyPr>
          <a:lstStyle/>
          <a:p>
            <a:pPr algn="ctr" marL="518160" indent="-259080" lvl="1">
              <a:lnSpc>
                <a:spcPts val="3359"/>
              </a:lnSpc>
              <a:spcBef>
                <a:spcPct val="0"/>
              </a:spcBef>
              <a:buAutoNum type="arabicPeriod" startAt="1"/>
            </a:pPr>
            <a:r>
              <a:rPr lang="en-US" sz="2400">
                <a:solidFill>
                  <a:srgbClr val="125B50"/>
                </a:solidFill>
                <a:latin typeface="Archivo Black"/>
                <a:ea typeface="Archivo Black"/>
                <a:cs typeface="Archivo Black"/>
                <a:sym typeface="Archivo Black"/>
              </a:rPr>
              <a:t>Match Score: AI compares faculty skills with course needs.</a:t>
            </a:r>
          </a:p>
        </p:txBody>
      </p:sp>
      <p:grpSp>
        <p:nvGrpSpPr>
          <p:cNvPr name="Group 19" id="19"/>
          <p:cNvGrpSpPr/>
          <p:nvPr/>
        </p:nvGrpSpPr>
        <p:grpSpPr>
          <a:xfrm rot="0">
            <a:off x="1250676" y="8114732"/>
            <a:ext cx="15786649" cy="1143568"/>
            <a:chOff x="0" y="0"/>
            <a:chExt cx="4744463" cy="343684"/>
          </a:xfrm>
        </p:grpSpPr>
        <p:sp>
          <p:nvSpPr>
            <p:cNvPr name="Freeform 20" id="20"/>
            <p:cNvSpPr/>
            <p:nvPr/>
          </p:nvSpPr>
          <p:spPr>
            <a:xfrm flipH="false" flipV="false" rot="0">
              <a:off x="0" y="0"/>
              <a:ext cx="4744463" cy="343684"/>
            </a:xfrm>
            <a:custGeom>
              <a:avLst/>
              <a:gdLst/>
              <a:ahLst/>
              <a:cxnLst/>
              <a:rect r="r" b="b" t="t" l="l"/>
              <a:pathLst>
                <a:path h="343684" w="4744463">
                  <a:moveTo>
                    <a:pt x="4541263" y="0"/>
                  </a:moveTo>
                  <a:cubicBezTo>
                    <a:pt x="4653487" y="0"/>
                    <a:pt x="4744463" y="76936"/>
                    <a:pt x="4744463" y="171842"/>
                  </a:cubicBezTo>
                  <a:cubicBezTo>
                    <a:pt x="4744463" y="266748"/>
                    <a:pt x="4653487" y="343684"/>
                    <a:pt x="4541263" y="343684"/>
                  </a:cubicBezTo>
                  <a:lnTo>
                    <a:pt x="203200" y="343684"/>
                  </a:lnTo>
                  <a:cubicBezTo>
                    <a:pt x="90976" y="343684"/>
                    <a:pt x="0" y="266748"/>
                    <a:pt x="0" y="171842"/>
                  </a:cubicBezTo>
                  <a:cubicBezTo>
                    <a:pt x="0" y="76936"/>
                    <a:pt x="90976" y="0"/>
                    <a:pt x="203200" y="0"/>
                  </a:cubicBezTo>
                  <a:close/>
                </a:path>
              </a:pathLst>
            </a:custGeom>
            <a:solidFill>
              <a:srgbClr val="63B38A"/>
            </a:solidFill>
          </p:spPr>
        </p:sp>
        <p:sp>
          <p:nvSpPr>
            <p:cNvPr name="TextBox 21" id="21"/>
            <p:cNvSpPr txBox="true"/>
            <p:nvPr/>
          </p:nvSpPr>
          <p:spPr>
            <a:xfrm>
              <a:off x="0" y="-47625"/>
              <a:ext cx="4744463" cy="391309"/>
            </a:xfrm>
            <a:prstGeom prst="rect">
              <a:avLst/>
            </a:prstGeom>
          </p:spPr>
          <p:txBody>
            <a:bodyPr anchor="ctr" rtlCol="false" tIns="50800" lIns="50800" bIns="50800" rIns="50800"/>
            <a:lstStyle/>
            <a:p>
              <a:pPr algn="ctr">
                <a:lnSpc>
                  <a:spcPts val="3359"/>
                </a:lnSpc>
              </a:pPr>
            </a:p>
          </p:txBody>
        </p:sp>
      </p:grpSp>
      <p:sp>
        <p:nvSpPr>
          <p:cNvPr name="TextBox 22" id="22"/>
          <p:cNvSpPr txBox="true"/>
          <p:nvPr/>
        </p:nvSpPr>
        <p:spPr>
          <a:xfrm rot="0">
            <a:off x="1487889" y="8459821"/>
            <a:ext cx="14289617" cy="405765"/>
          </a:xfrm>
          <a:prstGeom prst="rect">
            <a:avLst/>
          </a:prstGeom>
        </p:spPr>
        <p:txBody>
          <a:bodyPr anchor="t" rtlCol="false" tIns="0" lIns="0" bIns="0" rIns="0">
            <a:spAutoFit/>
          </a:bodyPr>
          <a:lstStyle/>
          <a:p>
            <a:pPr algn="ctr" marL="518160" indent="-259080" lvl="1">
              <a:lnSpc>
                <a:spcPts val="3359"/>
              </a:lnSpc>
              <a:spcBef>
                <a:spcPct val="0"/>
              </a:spcBef>
              <a:buAutoNum type="arabicPeriod" startAt="1"/>
            </a:pPr>
            <a:r>
              <a:rPr lang="en-US" sz="2400">
                <a:solidFill>
                  <a:srgbClr val="125B50"/>
                </a:solidFill>
                <a:latin typeface="Archivo Black"/>
                <a:ea typeface="Archivo Black"/>
                <a:cs typeface="Archivo Black"/>
                <a:sym typeface="Archivo Black"/>
              </a:rPr>
              <a:t>HoD Approval: HoD reviews and finalizes the allocation</a:t>
            </a:r>
          </a:p>
        </p:txBody>
      </p:sp>
      <p:sp>
        <p:nvSpPr>
          <p:cNvPr name="TextBox 23" id="23"/>
          <p:cNvSpPr txBox="true"/>
          <p:nvPr/>
        </p:nvSpPr>
        <p:spPr>
          <a:xfrm rot="0">
            <a:off x="14091936" y="9520382"/>
            <a:ext cx="3167364" cy="405765"/>
          </a:xfrm>
          <a:prstGeom prst="rect">
            <a:avLst/>
          </a:prstGeom>
        </p:spPr>
        <p:txBody>
          <a:bodyPr anchor="t" rtlCol="false" tIns="0" lIns="0" bIns="0" rIns="0">
            <a:spAutoFit/>
          </a:bodyPr>
          <a:lstStyle/>
          <a:p>
            <a:pPr algn="r">
              <a:lnSpc>
                <a:spcPts val="3359"/>
              </a:lnSpc>
            </a:pPr>
            <a:r>
              <a:rPr lang="en-US" sz="2400">
                <a:solidFill>
                  <a:srgbClr val="000000"/>
                </a:solidFill>
                <a:latin typeface="Archivo Black"/>
                <a:ea typeface="Archivo Black"/>
                <a:cs typeface="Archivo Black"/>
                <a:sym typeface="Archivo Black"/>
              </a:rPr>
              <a:t>8</a:t>
            </a:r>
          </a:p>
        </p:txBody>
      </p:sp>
      <p:sp>
        <p:nvSpPr>
          <p:cNvPr name="Freeform 24" id="24"/>
          <p:cNvSpPr/>
          <p:nvPr/>
        </p:nvSpPr>
        <p:spPr>
          <a:xfrm flipH="false" flipV="false" rot="-194881">
            <a:off x="5351277" y="1048351"/>
            <a:ext cx="714647" cy="740218"/>
          </a:xfrm>
          <a:custGeom>
            <a:avLst/>
            <a:gdLst/>
            <a:ahLst/>
            <a:cxnLst/>
            <a:rect r="r" b="b" t="t" l="l"/>
            <a:pathLst>
              <a:path h="740218" w="714647">
                <a:moveTo>
                  <a:pt x="0" y="0"/>
                </a:moveTo>
                <a:lnTo>
                  <a:pt x="714646" y="0"/>
                </a:lnTo>
                <a:lnTo>
                  <a:pt x="714646" y="740218"/>
                </a:lnTo>
                <a:lnTo>
                  <a:pt x="0" y="7402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10581693">
            <a:off x="11342618" y="1096365"/>
            <a:ext cx="667488" cy="691371"/>
          </a:xfrm>
          <a:custGeom>
            <a:avLst/>
            <a:gdLst/>
            <a:ahLst/>
            <a:cxnLst/>
            <a:rect r="r" b="b" t="t" l="l"/>
            <a:pathLst>
              <a:path h="691371" w="667488">
                <a:moveTo>
                  <a:pt x="0" y="0"/>
                </a:moveTo>
                <a:lnTo>
                  <a:pt x="667488" y="0"/>
                </a:lnTo>
                <a:lnTo>
                  <a:pt x="667488" y="691372"/>
                </a:lnTo>
                <a:lnTo>
                  <a:pt x="0" y="6913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F6F2"/>
        </a:solidFill>
      </p:bgPr>
    </p:bg>
    <p:spTree>
      <p:nvGrpSpPr>
        <p:cNvPr id="1" name=""/>
        <p:cNvGrpSpPr/>
        <p:nvPr/>
      </p:nvGrpSpPr>
      <p:grpSpPr>
        <a:xfrm>
          <a:off x="0" y="0"/>
          <a:ext cx="0" cy="0"/>
          <a:chOff x="0" y="0"/>
          <a:chExt cx="0" cy="0"/>
        </a:xfrm>
      </p:grpSpPr>
      <p:sp>
        <p:nvSpPr>
          <p:cNvPr name="TextBox 2" id="2"/>
          <p:cNvSpPr txBox="true"/>
          <p:nvPr/>
        </p:nvSpPr>
        <p:spPr>
          <a:xfrm rot="0">
            <a:off x="1028700" y="2655429"/>
            <a:ext cx="15568184" cy="6602871"/>
          </a:xfrm>
          <a:prstGeom prst="rect">
            <a:avLst/>
          </a:prstGeom>
        </p:spPr>
        <p:txBody>
          <a:bodyPr anchor="t" rtlCol="false" tIns="0" lIns="0" bIns="0" rIns="0">
            <a:spAutoFit/>
          </a:bodyPr>
          <a:lstStyle/>
          <a:p>
            <a:pPr algn="just" marL="636108" indent="-318054" lvl="1">
              <a:lnSpc>
                <a:spcPts val="4419"/>
              </a:lnSpc>
              <a:buFont typeface="Arial"/>
              <a:buChar char="•"/>
            </a:pPr>
            <a:r>
              <a:rPr lang="en-US" sz="2946">
                <a:solidFill>
                  <a:srgbClr val="125B50"/>
                </a:solidFill>
                <a:latin typeface="Garet"/>
                <a:ea typeface="Garet"/>
                <a:cs typeface="Garet"/>
                <a:sym typeface="Garet"/>
              </a:rPr>
              <a:t>Syllabus Intelligence Engine</a:t>
            </a:r>
          </a:p>
          <a:p>
            <a:pPr algn="just">
              <a:lnSpc>
                <a:spcPts val="4419"/>
              </a:lnSpc>
            </a:pPr>
            <a:r>
              <a:rPr lang="en-US" sz="2946">
                <a:solidFill>
                  <a:srgbClr val="125B50"/>
                </a:solidFill>
                <a:latin typeface="Garet"/>
                <a:ea typeface="Garet"/>
                <a:cs typeface="Garet"/>
                <a:sym typeface="Garet"/>
              </a:rPr>
              <a:t>       AI reads syllabus and matches instructor.</a:t>
            </a:r>
          </a:p>
          <a:p>
            <a:pPr algn="just">
              <a:lnSpc>
                <a:spcPts val="4419"/>
              </a:lnSpc>
            </a:pPr>
          </a:p>
          <a:p>
            <a:pPr algn="just" marL="636108" indent="-318054" lvl="1">
              <a:lnSpc>
                <a:spcPts val="4419"/>
              </a:lnSpc>
              <a:buFont typeface="Arial"/>
              <a:buChar char="•"/>
            </a:pPr>
            <a:r>
              <a:rPr lang="en-US" sz="2946">
                <a:solidFill>
                  <a:srgbClr val="125B50"/>
                </a:solidFill>
                <a:latin typeface="Garet"/>
                <a:ea typeface="Garet"/>
                <a:cs typeface="Garet"/>
                <a:sym typeface="Garet"/>
              </a:rPr>
              <a:t>Advanced AI Matching</a:t>
            </a:r>
          </a:p>
          <a:p>
            <a:pPr algn="just">
              <a:lnSpc>
                <a:spcPts val="4419"/>
              </a:lnSpc>
            </a:pPr>
          </a:p>
          <a:p>
            <a:pPr algn="just" marL="636108" indent="-318054" lvl="1">
              <a:lnSpc>
                <a:spcPts val="4419"/>
              </a:lnSpc>
              <a:buFont typeface="Arial"/>
              <a:buChar char="•"/>
            </a:pPr>
            <a:r>
              <a:rPr lang="en-US" sz="2946">
                <a:solidFill>
                  <a:srgbClr val="125B50"/>
                </a:solidFill>
                <a:latin typeface="Garet"/>
                <a:ea typeface="Garet"/>
                <a:cs typeface="Garet"/>
                <a:sym typeface="Garet"/>
              </a:rPr>
              <a:t>Mobile Access </a:t>
            </a:r>
          </a:p>
          <a:p>
            <a:pPr algn="just">
              <a:lnSpc>
                <a:spcPts val="4419"/>
              </a:lnSpc>
            </a:pPr>
          </a:p>
          <a:p>
            <a:pPr algn="just" marL="636108" indent="-318054" lvl="1">
              <a:lnSpc>
                <a:spcPts val="4419"/>
              </a:lnSpc>
              <a:buFont typeface="Arial"/>
              <a:buChar char="•"/>
            </a:pPr>
            <a:r>
              <a:rPr lang="en-US" sz="2946">
                <a:solidFill>
                  <a:srgbClr val="125B50"/>
                </a:solidFill>
                <a:latin typeface="Garet"/>
                <a:ea typeface="Garet"/>
                <a:cs typeface="Garet"/>
                <a:sym typeface="Garet"/>
              </a:rPr>
              <a:t>AI Faculty Workload Prediction</a:t>
            </a:r>
          </a:p>
          <a:p>
            <a:pPr algn="just">
              <a:lnSpc>
                <a:spcPts val="4419"/>
              </a:lnSpc>
            </a:pPr>
            <a:r>
              <a:rPr lang="en-US" sz="2946">
                <a:solidFill>
                  <a:srgbClr val="125B50"/>
                </a:solidFill>
                <a:latin typeface="Garet"/>
                <a:ea typeface="Garet"/>
                <a:cs typeface="Garet"/>
                <a:sym typeface="Garet"/>
              </a:rPr>
              <a:t>       AI predicts how much workload each faculty can handle</a:t>
            </a:r>
          </a:p>
          <a:p>
            <a:pPr algn="just">
              <a:lnSpc>
                <a:spcPts val="4419"/>
              </a:lnSpc>
            </a:pPr>
          </a:p>
          <a:p>
            <a:pPr algn="just" marL="636108" indent="-318054" lvl="1">
              <a:lnSpc>
                <a:spcPts val="4419"/>
              </a:lnSpc>
              <a:buFont typeface="Arial"/>
              <a:buChar char="•"/>
            </a:pPr>
            <a:r>
              <a:rPr lang="en-US" sz="2946">
                <a:solidFill>
                  <a:srgbClr val="125B50"/>
                </a:solidFill>
                <a:latin typeface="Garet"/>
                <a:ea typeface="Garet"/>
                <a:cs typeface="Garet"/>
                <a:sym typeface="Garet"/>
              </a:rPr>
              <a:t>Instructor Performance Integration</a:t>
            </a:r>
          </a:p>
          <a:p>
            <a:pPr algn="just">
              <a:lnSpc>
                <a:spcPts val="4419"/>
              </a:lnSpc>
            </a:pPr>
            <a:r>
              <a:rPr lang="en-US" sz="2946">
                <a:solidFill>
                  <a:srgbClr val="125B50"/>
                </a:solidFill>
                <a:latin typeface="Garet"/>
                <a:ea typeface="Garet"/>
                <a:cs typeface="Garet"/>
                <a:sym typeface="Garet"/>
              </a:rPr>
              <a:t>       System recommends best instructor based on students feedback</a:t>
            </a:r>
          </a:p>
        </p:txBody>
      </p:sp>
      <p:sp>
        <p:nvSpPr>
          <p:cNvPr name="Freeform 3" id="3"/>
          <p:cNvSpPr/>
          <p:nvPr/>
        </p:nvSpPr>
        <p:spPr>
          <a:xfrm flipH="false" flipV="false" rot="0">
            <a:off x="-1454831" y="-260377"/>
            <a:ext cx="2273981" cy="7241595"/>
          </a:xfrm>
          <a:custGeom>
            <a:avLst/>
            <a:gdLst/>
            <a:ahLst/>
            <a:cxnLst/>
            <a:rect r="r" b="b" t="t" l="l"/>
            <a:pathLst>
              <a:path h="7241595" w="2273981">
                <a:moveTo>
                  <a:pt x="0" y="0"/>
                </a:moveTo>
                <a:lnTo>
                  <a:pt x="2273981" y="0"/>
                </a:lnTo>
                <a:lnTo>
                  <a:pt x="2273981" y="7241594"/>
                </a:lnTo>
                <a:lnTo>
                  <a:pt x="0" y="7241594"/>
                </a:lnTo>
                <a:lnTo>
                  <a:pt x="0" y="0"/>
                </a:lnTo>
                <a:close/>
              </a:path>
            </a:pathLst>
          </a:custGeom>
          <a:blipFill>
            <a:blip r:embed="rId2"/>
            <a:stretch>
              <a:fillRect l="-394961" t="-11173" r="-63500" b="-5664"/>
            </a:stretch>
          </a:blipFill>
        </p:spPr>
      </p:sp>
      <p:sp>
        <p:nvSpPr>
          <p:cNvPr name="Freeform 4" id="4"/>
          <p:cNvSpPr/>
          <p:nvPr/>
        </p:nvSpPr>
        <p:spPr>
          <a:xfrm flipH="false" flipV="false" rot="0">
            <a:off x="17539717" y="4046968"/>
            <a:ext cx="2273981" cy="7241595"/>
          </a:xfrm>
          <a:custGeom>
            <a:avLst/>
            <a:gdLst/>
            <a:ahLst/>
            <a:cxnLst/>
            <a:rect r="r" b="b" t="t" l="l"/>
            <a:pathLst>
              <a:path h="7241595" w="2273981">
                <a:moveTo>
                  <a:pt x="0" y="0"/>
                </a:moveTo>
                <a:lnTo>
                  <a:pt x="2273982" y="0"/>
                </a:lnTo>
                <a:lnTo>
                  <a:pt x="2273982" y="7241595"/>
                </a:lnTo>
                <a:lnTo>
                  <a:pt x="0" y="7241595"/>
                </a:lnTo>
                <a:lnTo>
                  <a:pt x="0" y="0"/>
                </a:lnTo>
                <a:close/>
              </a:path>
            </a:pathLst>
          </a:custGeom>
          <a:blipFill>
            <a:blip r:embed="rId2"/>
            <a:stretch>
              <a:fillRect l="-394961" t="-11173" r="-63500" b="-5664"/>
            </a:stretch>
          </a:blipFill>
        </p:spPr>
      </p:sp>
      <p:grpSp>
        <p:nvGrpSpPr>
          <p:cNvPr name="Group 5" id="5"/>
          <p:cNvGrpSpPr/>
          <p:nvPr/>
        </p:nvGrpSpPr>
        <p:grpSpPr>
          <a:xfrm rot="0">
            <a:off x="12021695" y="2331795"/>
            <a:ext cx="4140482" cy="414048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5040" t="0" r="-15040" b="0"/>
              </a:stretch>
            </a:blipFill>
          </p:spPr>
        </p:sp>
      </p:grpSp>
      <p:sp>
        <p:nvSpPr>
          <p:cNvPr name="TextBox 7" id="7"/>
          <p:cNvSpPr txBox="true"/>
          <p:nvPr/>
        </p:nvSpPr>
        <p:spPr>
          <a:xfrm rot="0">
            <a:off x="1691116" y="1266921"/>
            <a:ext cx="8950263" cy="821055"/>
          </a:xfrm>
          <a:prstGeom prst="rect">
            <a:avLst/>
          </a:prstGeom>
        </p:spPr>
        <p:txBody>
          <a:bodyPr anchor="t" rtlCol="false" tIns="0" lIns="0" bIns="0" rIns="0">
            <a:spAutoFit/>
          </a:bodyPr>
          <a:lstStyle/>
          <a:p>
            <a:pPr algn="l">
              <a:lnSpc>
                <a:spcPts val="6719"/>
              </a:lnSpc>
            </a:pPr>
            <a:r>
              <a:rPr lang="en-US" sz="4800">
                <a:solidFill>
                  <a:srgbClr val="000000"/>
                </a:solidFill>
                <a:latin typeface="Archivo Black"/>
                <a:ea typeface="Archivo Black"/>
                <a:cs typeface="Archivo Black"/>
                <a:sym typeface="Archivo Black"/>
              </a:rPr>
              <a:t>FUTURE ENHANCEMENTS</a:t>
            </a:r>
          </a:p>
        </p:txBody>
      </p:sp>
      <p:sp>
        <p:nvSpPr>
          <p:cNvPr name="TextBox 8" id="8"/>
          <p:cNvSpPr txBox="true"/>
          <p:nvPr/>
        </p:nvSpPr>
        <p:spPr>
          <a:xfrm rot="0">
            <a:off x="14091936" y="9520382"/>
            <a:ext cx="3167364" cy="405765"/>
          </a:xfrm>
          <a:prstGeom prst="rect">
            <a:avLst/>
          </a:prstGeom>
        </p:spPr>
        <p:txBody>
          <a:bodyPr anchor="t" rtlCol="false" tIns="0" lIns="0" bIns="0" rIns="0">
            <a:spAutoFit/>
          </a:bodyPr>
          <a:lstStyle/>
          <a:p>
            <a:pPr algn="r">
              <a:lnSpc>
                <a:spcPts val="3359"/>
              </a:lnSpc>
            </a:pPr>
            <a:r>
              <a:rPr lang="en-US" sz="2400">
                <a:solidFill>
                  <a:srgbClr val="000000"/>
                </a:solidFill>
                <a:latin typeface="Archivo Black"/>
                <a:ea typeface="Archivo Black"/>
                <a:cs typeface="Archivo Black"/>
                <a:sym typeface="Archivo Black"/>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F6F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3120284"/>
          </a:xfrm>
          <a:custGeom>
            <a:avLst/>
            <a:gdLst/>
            <a:ahLst/>
            <a:cxnLst/>
            <a:rect r="r" b="b" t="t" l="l"/>
            <a:pathLst>
              <a:path h="3120284" w="18288000">
                <a:moveTo>
                  <a:pt x="0" y="0"/>
                </a:moveTo>
                <a:lnTo>
                  <a:pt x="18288000" y="0"/>
                </a:lnTo>
                <a:lnTo>
                  <a:pt x="18288000" y="3120284"/>
                </a:lnTo>
                <a:lnTo>
                  <a:pt x="0" y="3120284"/>
                </a:lnTo>
                <a:lnTo>
                  <a:pt x="0" y="0"/>
                </a:lnTo>
                <a:close/>
              </a:path>
            </a:pathLst>
          </a:custGeom>
          <a:blipFill>
            <a:blip r:embed="rId2"/>
            <a:stretch>
              <a:fillRect l="0" t="-65125" r="0" b="-225364"/>
            </a:stretch>
          </a:blipFill>
        </p:spPr>
      </p:sp>
      <p:sp>
        <p:nvSpPr>
          <p:cNvPr name="TextBox 3" id="3"/>
          <p:cNvSpPr txBox="true"/>
          <p:nvPr/>
        </p:nvSpPr>
        <p:spPr>
          <a:xfrm rot="0">
            <a:off x="1892487" y="1464892"/>
            <a:ext cx="8647646" cy="821055"/>
          </a:xfrm>
          <a:prstGeom prst="rect">
            <a:avLst/>
          </a:prstGeom>
        </p:spPr>
        <p:txBody>
          <a:bodyPr anchor="t" rtlCol="false" tIns="0" lIns="0" bIns="0" rIns="0">
            <a:spAutoFit/>
          </a:bodyPr>
          <a:lstStyle/>
          <a:p>
            <a:pPr algn="l">
              <a:lnSpc>
                <a:spcPts val="6719"/>
              </a:lnSpc>
            </a:pPr>
            <a:r>
              <a:rPr lang="en-US" sz="4800">
                <a:solidFill>
                  <a:srgbClr val="000000"/>
                </a:solidFill>
                <a:latin typeface="Archivo Black"/>
                <a:ea typeface="Archivo Black"/>
                <a:cs typeface="Archivo Black"/>
                <a:sym typeface="Archivo Black"/>
              </a:rPr>
              <a:t>CONCLUSION</a:t>
            </a:r>
          </a:p>
        </p:txBody>
      </p:sp>
      <p:sp>
        <p:nvSpPr>
          <p:cNvPr name="Freeform 4" id="4"/>
          <p:cNvSpPr/>
          <p:nvPr/>
        </p:nvSpPr>
        <p:spPr>
          <a:xfrm flipH="false" flipV="false" rot="10581693">
            <a:off x="6637547" y="1580625"/>
            <a:ext cx="667488" cy="691371"/>
          </a:xfrm>
          <a:custGeom>
            <a:avLst/>
            <a:gdLst/>
            <a:ahLst/>
            <a:cxnLst/>
            <a:rect r="r" b="b" t="t" l="l"/>
            <a:pathLst>
              <a:path h="691371" w="667488">
                <a:moveTo>
                  <a:pt x="0" y="0"/>
                </a:moveTo>
                <a:lnTo>
                  <a:pt x="667488" y="0"/>
                </a:lnTo>
                <a:lnTo>
                  <a:pt x="667488" y="691371"/>
                </a:lnTo>
                <a:lnTo>
                  <a:pt x="0" y="6913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4091936" y="9520382"/>
            <a:ext cx="3167364" cy="405765"/>
          </a:xfrm>
          <a:prstGeom prst="rect">
            <a:avLst/>
          </a:prstGeom>
        </p:spPr>
        <p:txBody>
          <a:bodyPr anchor="t" rtlCol="false" tIns="0" lIns="0" bIns="0" rIns="0">
            <a:spAutoFit/>
          </a:bodyPr>
          <a:lstStyle/>
          <a:p>
            <a:pPr algn="r">
              <a:lnSpc>
                <a:spcPts val="3359"/>
              </a:lnSpc>
            </a:pPr>
            <a:r>
              <a:rPr lang="en-US" sz="2400">
                <a:solidFill>
                  <a:srgbClr val="000000"/>
                </a:solidFill>
                <a:latin typeface="Archivo Black"/>
                <a:ea typeface="Archivo Black"/>
                <a:cs typeface="Archivo Black"/>
                <a:sym typeface="Archivo Black"/>
              </a:rPr>
              <a:t>10</a:t>
            </a:r>
          </a:p>
        </p:txBody>
      </p:sp>
      <p:sp>
        <p:nvSpPr>
          <p:cNvPr name="TextBox 6" id="6"/>
          <p:cNvSpPr txBox="true"/>
          <p:nvPr/>
        </p:nvSpPr>
        <p:spPr>
          <a:xfrm rot="0">
            <a:off x="839746" y="4723472"/>
            <a:ext cx="12973106" cy="1647826"/>
          </a:xfrm>
          <a:prstGeom prst="rect">
            <a:avLst/>
          </a:prstGeom>
        </p:spPr>
        <p:txBody>
          <a:bodyPr anchor="t" rtlCol="false" tIns="0" lIns="0" bIns="0" rIns="0">
            <a:spAutoFit/>
          </a:bodyPr>
          <a:lstStyle/>
          <a:p>
            <a:pPr algn="just">
              <a:lnSpc>
                <a:spcPts val="4499"/>
              </a:lnSpc>
            </a:pPr>
            <a:r>
              <a:rPr lang="en-US" sz="2999">
                <a:solidFill>
                  <a:srgbClr val="125B50"/>
                </a:solidFill>
                <a:latin typeface="Garet"/>
                <a:ea typeface="Garet"/>
                <a:cs typeface="Garet"/>
                <a:sym typeface="Garet"/>
              </a:rPr>
              <a:t>Our project, CAS, will become even more useful and efficient as we continue building on the solid base we created, allowing us to add more valuable features in the next stages.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F6F2"/>
        </a:solidFill>
      </p:bgPr>
    </p:bg>
    <p:spTree>
      <p:nvGrpSpPr>
        <p:cNvPr id="1" name=""/>
        <p:cNvGrpSpPr/>
        <p:nvPr/>
      </p:nvGrpSpPr>
      <p:grpSpPr>
        <a:xfrm>
          <a:off x="0" y="0"/>
          <a:ext cx="0" cy="0"/>
          <a:chOff x="0" y="0"/>
          <a:chExt cx="0" cy="0"/>
        </a:xfrm>
      </p:grpSpPr>
      <p:sp>
        <p:nvSpPr>
          <p:cNvPr name="Freeform 2" id="2"/>
          <p:cNvSpPr/>
          <p:nvPr/>
        </p:nvSpPr>
        <p:spPr>
          <a:xfrm flipH="false" flipV="false" rot="0">
            <a:off x="11340163" y="1028700"/>
            <a:ext cx="7288963" cy="11034142"/>
          </a:xfrm>
          <a:custGeom>
            <a:avLst/>
            <a:gdLst/>
            <a:ahLst/>
            <a:cxnLst/>
            <a:rect r="r" b="b" t="t" l="l"/>
            <a:pathLst>
              <a:path h="11034142" w="7288963">
                <a:moveTo>
                  <a:pt x="0" y="0"/>
                </a:moveTo>
                <a:lnTo>
                  <a:pt x="7288963" y="0"/>
                </a:lnTo>
                <a:lnTo>
                  <a:pt x="7288963" y="11034142"/>
                </a:lnTo>
                <a:lnTo>
                  <a:pt x="0" y="11034142"/>
                </a:lnTo>
                <a:lnTo>
                  <a:pt x="0" y="0"/>
                </a:lnTo>
                <a:close/>
              </a:path>
            </a:pathLst>
          </a:custGeom>
          <a:blipFill>
            <a:blip r:embed="rId2">
              <a:alphaModFix amt="73000"/>
            </a:blip>
            <a:stretch>
              <a:fillRect l="-100572" t="-10574" r="-50669" b="0"/>
            </a:stretch>
          </a:blipFill>
        </p:spPr>
      </p:sp>
      <p:sp>
        <p:nvSpPr>
          <p:cNvPr name="Freeform 3" id="3"/>
          <p:cNvSpPr/>
          <p:nvPr/>
        </p:nvSpPr>
        <p:spPr>
          <a:xfrm flipH="false" flipV="false" rot="0">
            <a:off x="8818446" y="3174013"/>
            <a:ext cx="5043434" cy="4494961"/>
          </a:xfrm>
          <a:custGeom>
            <a:avLst/>
            <a:gdLst/>
            <a:ahLst/>
            <a:cxnLst/>
            <a:rect r="r" b="b" t="t" l="l"/>
            <a:pathLst>
              <a:path h="4494961" w="5043434">
                <a:moveTo>
                  <a:pt x="0" y="0"/>
                </a:moveTo>
                <a:lnTo>
                  <a:pt x="5043434" y="0"/>
                </a:lnTo>
                <a:lnTo>
                  <a:pt x="5043434" y="4494961"/>
                </a:lnTo>
                <a:lnTo>
                  <a:pt x="0" y="4494961"/>
                </a:lnTo>
                <a:lnTo>
                  <a:pt x="0" y="0"/>
                </a:lnTo>
                <a:close/>
              </a:path>
            </a:pathLst>
          </a:custGeom>
          <a:blipFill>
            <a:blip r:embed="rId3"/>
            <a:stretch>
              <a:fillRect l="0" t="0" r="0" b="0"/>
            </a:stretch>
          </a:blipFill>
        </p:spPr>
      </p:sp>
      <p:sp>
        <p:nvSpPr>
          <p:cNvPr name="TextBox 4" id="4"/>
          <p:cNvSpPr txBox="true"/>
          <p:nvPr/>
        </p:nvSpPr>
        <p:spPr>
          <a:xfrm rot="0">
            <a:off x="1028700" y="4066188"/>
            <a:ext cx="7145690" cy="2089151"/>
          </a:xfrm>
          <a:prstGeom prst="rect">
            <a:avLst/>
          </a:prstGeom>
        </p:spPr>
        <p:txBody>
          <a:bodyPr anchor="t" rtlCol="false" tIns="0" lIns="0" bIns="0" rIns="0">
            <a:spAutoFit/>
          </a:bodyPr>
          <a:lstStyle/>
          <a:p>
            <a:pPr algn="l">
              <a:lnSpc>
                <a:spcPts val="8000"/>
              </a:lnSpc>
            </a:pPr>
            <a:r>
              <a:rPr lang="en-US" sz="8000">
                <a:solidFill>
                  <a:srgbClr val="000000"/>
                </a:solidFill>
                <a:latin typeface="Archivo Black"/>
                <a:ea typeface="Archivo Black"/>
                <a:cs typeface="Archivo Black"/>
                <a:sym typeface="Archivo Black"/>
              </a:rPr>
              <a:t>FOR</a:t>
            </a:r>
          </a:p>
          <a:p>
            <a:pPr algn="l">
              <a:lnSpc>
                <a:spcPts val="8000"/>
              </a:lnSpc>
            </a:pPr>
            <a:r>
              <a:rPr lang="en-US" sz="8000">
                <a:solidFill>
                  <a:srgbClr val="000000"/>
                </a:solidFill>
                <a:latin typeface="Archivo Black"/>
                <a:ea typeface="Archivo Black"/>
                <a:cs typeface="Archivo Black"/>
                <a:sym typeface="Archivo Black"/>
              </a:rPr>
              <a:t>LISTENING</a:t>
            </a:r>
          </a:p>
        </p:txBody>
      </p:sp>
      <p:sp>
        <p:nvSpPr>
          <p:cNvPr name="TextBox 5" id="5"/>
          <p:cNvSpPr txBox="true"/>
          <p:nvPr/>
        </p:nvSpPr>
        <p:spPr>
          <a:xfrm rot="0">
            <a:off x="1028700" y="3107338"/>
            <a:ext cx="5158409" cy="523875"/>
          </a:xfrm>
          <a:prstGeom prst="rect">
            <a:avLst/>
          </a:prstGeom>
        </p:spPr>
        <p:txBody>
          <a:bodyPr anchor="t" rtlCol="false" tIns="0" lIns="0" bIns="0" rIns="0">
            <a:spAutoFit/>
          </a:bodyPr>
          <a:lstStyle/>
          <a:p>
            <a:pPr algn="l">
              <a:lnSpc>
                <a:spcPts val="4200"/>
              </a:lnSpc>
            </a:pPr>
            <a:r>
              <a:rPr lang="en-US" sz="3000">
                <a:solidFill>
                  <a:srgbClr val="000000"/>
                </a:solidFill>
                <a:latin typeface="Archivo Black"/>
                <a:ea typeface="Archivo Black"/>
                <a:cs typeface="Archivo Black"/>
                <a:sym typeface="Archivo Black"/>
              </a:rPr>
              <a:t>THANK YOU</a:t>
            </a:r>
          </a:p>
        </p:txBody>
      </p:sp>
      <p:sp>
        <p:nvSpPr>
          <p:cNvPr name="TextBox 6" id="6"/>
          <p:cNvSpPr txBox="true"/>
          <p:nvPr/>
        </p:nvSpPr>
        <p:spPr>
          <a:xfrm rot="0">
            <a:off x="14091936" y="9520382"/>
            <a:ext cx="3167364" cy="405765"/>
          </a:xfrm>
          <a:prstGeom prst="rect">
            <a:avLst/>
          </a:prstGeom>
        </p:spPr>
        <p:txBody>
          <a:bodyPr anchor="t" rtlCol="false" tIns="0" lIns="0" bIns="0" rIns="0">
            <a:spAutoFit/>
          </a:bodyPr>
          <a:lstStyle/>
          <a:p>
            <a:pPr algn="r">
              <a:lnSpc>
                <a:spcPts val="3359"/>
              </a:lnSpc>
            </a:pPr>
            <a:r>
              <a:rPr lang="en-US" sz="2400">
                <a:solidFill>
                  <a:srgbClr val="000000"/>
                </a:solidFill>
                <a:latin typeface="Archivo Black"/>
                <a:ea typeface="Archivo Black"/>
                <a:cs typeface="Archivo Black"/>
                <a:sym typeface="Archivo Black"/>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DAG5u9OnEqg</dc:identifier>
  <dcterms:modified xsi:type="dcterms:W3CDTF">2011-08-01T06:04:30Z</dcterms:modified>
  <cp:revision>1</cp:revision>
  <dc:title>Green Gradient Monotone Minimalist Presentation Template</dc:title>
</cp:coreProperties>
</file>